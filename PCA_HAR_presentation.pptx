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71" r:id="rId6"/>
    <p:sldId id="259" r:id="rId7"/>
    <p:sldId id="260" r:id="rId8"/>
    <p:sldId id="27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5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62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03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 statement: we have thousands of smartphone activity windows, each described by 561 engineered features. The goal is to show how PCA compresses that space into something we can actually see and explain.
[Sources]
- User-provided notebook: human_activity_pca_analysis.ipynb (title, dataset framing, and PCA scatter output used as background).
- Figure asset extracted from notebook output: 2D PCA scatter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motivate the problem before showing any formulas or charts. The point is not that PCA magically solves HAR; the point is that it gives a clear exploratory view of a high-dimensional, realistic sensor dataset.
[Sources]
- User-provided notebook: human_activity_pca_analysis.ipynb (dataset description: 30 volunteers, 50 Hz smartphone sensors, 2.56-second windows, six activities).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audience a concrete mental model of the dataset. Emphasize that each row is already a processed summary window, so PCA is compressing an engineered feature space rather than raw time series.
[Sources]
- User-provided notebook: human_activity_pca_analysis.ipynb (dataset overview table and feature group summary).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clearest way to explain dimension reduction in the notebook: the number of observations never changes, only the feature representation changes. That is what makes the scatter plot possible.
[Sources]
- User-provided notebook: human_activity_pca_analysis.ipynb (dimension comparison table: original standardized feature space vs PCA visualization space).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and make the evaluation criteria explicit. The audience should know what success means before the results appear.
[Sources]
- User-provided notebook: human_activity_pca_analysis.ipynb (analytical question markdown cell).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practical. The big message is that the notebook used a clean, analysis-ready matrix and standardized it so PCA reflects structure rather than scale artifacts.
[Sources]
- User-provided notebook: human_activity_pca_analysis.ipynb (initial checks table, scaling check, and class distribution figure).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intuition slide. Keep it light: PCA rotates the data to find informative directions, and the first two components are used because they make a readable picture, not because they capture everything.
[Sources]
- User-provided notebook: human_activity_pca_analysis.ipynb (plain-English PCA explanation and standardization rationale).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workflow slide helps the audience see the full pipeline at a glance. It also reinforces that the project starts after feature engineering, not before it.
[Sources]
- User-provided notebook: human_activity_pca_analysis.ipynb (pipeline summary markdown and preprocessing/PCA steps).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compression tradeoff. The first two components are genuinely informative here, but the notebook also shows that a faithful high-variance representation still needs many more PCs.
[Sources]
- User-provided notebook: human_activity_pca_analysis.ipynb (explained variance plots, component variance summary, and variance target summary).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audience look at the plot. The main story is that PCA preserves a broad motion-vs-posture split. The fine-grained story is weaker: similar stationary activities still overlap.
[Sources]
- User-provided notebook: human_activity_pca_analysis.ipynb (2D PCA scatter plot with activity labels).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interpretation slide. Stay honest: these are useful, defensible labels for the first two PCs, not perfect semantic truths. The centroid table and grouped loading summaries are the notebook’s evidence for those labels.
[Sources]
- User-provided notebook: human_activity_pca_analysis.ipynb (component profile table, activity centroid table, and interpretation markdown based on grouped loadings and class centroids).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conclusion slide. PCA clearly works for structure discovery in this notebook, but the overlap and the variance tradeoff show why a 2D view is not the whole story.
[Sources]
- User-provided notebook: human_activity_pca_analysis.ipynb (final interpretation and limitation sections, variance summary, and PCA scatter plot interpretation).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method back to the analytical goal: PCA did what we needed for communication and broad structure discovery, while also showing its own limits.
[Sources]
- User-provided notebook: human_activity_pca_analysis.ipynb (overall takeaway and limitations sections).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technical discussion. These are the top absolute loadings reported by the notebook for PC1 and PC2.
[Sources]
- User-provided notebook: human_activity_pca_analysis.ipynb (optional appendix: raw top-loading features 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ar_pca_assets/scatter_bg_dark2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36">
              <a:alpha val="45000"/>
            </a:srgbClr>
          </a:solidFill>
          <a:ln w="12700">
            <a:solidFill>
              <a:srgbClr val="0F223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17324D">
              <a:alpha val="94000"/>
            </a:srgb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13232" y="1078992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Human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Patterns with PCA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2F0"/>
                </a:solidFill>
              </a:rPr>
              <a:t>Dimension reduction in the UCI Human Activity Recognition Using Smartphones dataset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9808" y="2395728"/>
            <a:ext cx="2286000" cy="0"/>
          </a:xfrm>
          <a:prstGeom prst="line">
            <a:avLst/>
          </a:prstGeom>
          <a:noFill/>
          <a:ln w="25400">
            <a:solidFill>
              <a:srgbClr val="7BCB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49808" y="4526280"/>
            <a:ext cx="1298448" cy="384048"/>
          </a:xfrm>
          <a:prstGeom prst="roundRect">
            <a:avLst>
              <a:gd name="adj" fmla="val 28571"/>
            </a:avLst>
          </a:prstGeom>
          <a:solidFill>
            <a:srgbClr val="54B5A6"/>
          </a:solidFill>
          <a:ln>
            <a:solidFill>
              <a:srgbClr val="54B5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10,299 windows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39696" y="4526280"/>
            <a:ext cx="1216152" cy="384048"/>
          </a:xfrm>
          <a:prstGeom prst="roundRect">
            <a:avLst>
              <a:gd name="adj" fmla="val 28571"/>
            </a:avLst>
          </a:prstGeom>
          <a:solidFill>
            <a:srgbClr val="F08A4B"/>
          </a:solidFill>
          <a:ln>
            <a:solidFill>
              <a:srgbClr val="F08A4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561 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56432" y="4526280"/>
            <a:ext cx="1042416" cy="384048"/>
          </a:xfrm>
          <a:prstGeom prst="roundRect">
            <a:avLst>
              <a:gd name="adj" fmla="val 28571"/>
            </a:avLst>
          </a:prstGeom>
          <a:solidFill>
            <a:srgbClr val="E6C84E"/>
          </a:solidFill>
          <a:ln>
            <a:solidFill>
              <a:srgbClr val="E6C84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6 activities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" y="5074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EEF7"/>
                </a:solidFill>
              </a:rPr>
              <a:t>PCA reduces 561 engineered sensor features to a readable 2D map without throwing away the main structure.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49808" y="6016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5E5"/>
                </a:solidFill>
              </a:rPr>
              <a:t>Data Visualization &amp; Data Mining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41080" y="6016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7324D"/>
                </a:solidFill>
              </a:rPr>
              <a:t>UCI HAR dataset • PCA / dimension reduction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Dataset Is a Good PCA Example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1051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02C"/>
                </a:solidFill>
              </a:rPr>
              <a:t>Human activity recognition is a realistic, messy sensor problem — and that makes it a strong test case for dimension reduction.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1892808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77824" y="1783080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2C"/>
                </a:solidFill>
              </a:rPr>
              <a:t>Each observation is a short smartphone sensor window, not a simple tabular record.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13232" y="2468880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35915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2C"/>
                </a:solidFill>
              </a:rPr>
              <a:t>The feature space is large enough to be hard to interpret directly (561 columns).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3232" y="3044952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293522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2C"/>
                </a:solidFill>
              </a:rPr>
              <a:t>The classes are meaningful and intuitive: walking, stairs, sitting, standing, laying.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13232" y="3621024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77824" y="351129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7202C"/>
                </a:solidFill>
              </a:rPr>
              <a:t>If PCA works here, it gives us a compact view of broad activity structure.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537960" y="129844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629400" y="14081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50 Hz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47688" y="1728216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sensor sampling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32520" y="129844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823960" y="14081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2.56 sec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42248" y="1728216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window per row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23774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24871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47688" y="2807208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volunteers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32520" y="237744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6C84E"/>
          </a:solidFill>
          <a:ln w="12700">
            <a:solidFill>
              <a:srgbClr val="E6C84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823960" y="24871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842248" y="2807208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24D"/>
                </a:solidFill>
              </a:rPr>
              <a:t>activity labels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65760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63640" y="3657600"/>
            <a:ext cx="118872" cy="1554480"/>
          </a:xfrm>
          <a:prstGeom prst="roundRect">
            <a:avLst>
              <a:gd name="adj" fmla="val 61538"/>
            </a:avLst>
          </a:prstGeom>
          <a:solidFill>
            <a:srgbClr val="7BCBC0"/>
          </a:solidFill>
          <a:ln w="12700">
            <a:solidFill>
              <a:srgbClr val="7BCB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19672" y="3803904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Why PCA matters here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519672" y="4133088"/>
            <a:ext cx="493776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The dataset already contains engineered summaries from accelerometer and gyroscope signals. That means many features are related, partially redundant, and hard to picture mentally — exactly where PCA can help.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54406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263640" y="5440680"/>
            <a:ext cx="118872" cy="868680"/>
          </a:xfrm>
          <a:prstGeom prst="roundRect">
            <a:avLst>
              <a:gd name="adj" fmla="val 61538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519672" y="5586984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Practical goal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19672" y="5916168"/>
            <a:ext cx="49377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Turn a 561-dimensional table into a 2D map that is easy to show live and easy to interpret.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One Row in UCI HAR Represents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18872" cy="2011680"/>
          </a:xfrm>
          <a:prstGeom prst="roundRect">
            <a:avLst>
              <a:gd name="adj" fmla="val 61538"/>
            </a:avLst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41832" y="12893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Observation unit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1832" y="1618488"/>
            <a:ext cx="438912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One 2.56-second sliding window of smartphone motion data from a Samsung Galaxy S II worn on the waist. The notebook analyzes the engineered feature table, not the raw inertial signal files.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3474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Sensor sources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1783080" cy="384048"/>
          </a:xfrm>
          <a:prstGeom prst="roundRect">
            <a:avLst>
              <a:gd name="adj" fmla="val 28571"/>
            </a:avLst>
          </a:prstGeom>
          <a:solidFill>
            <a:srgbClr val="54B5A6"/>
          </a:solidFill>
          <a:ln>
            <a:solidFill>
              <a:srgbClr val="54B5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Accelerometer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384048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08A4B"/>
          </a:solidFill>
          <a:ln>
            <a:solidFill>
              <a:srgbClr val="F08A4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Gyroscope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4526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 mix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873752"/>
            <a:ext cx="1691640" cy="384048"/>
          </a:xfrm>
          <a:prstGeom prst="roundRect">
            <a:avLst>
              <a:gd name="adj" fmla="val 28571"/>
            </a:avLst>
          </a:prstGeom>
          <a:solidFill>
            <a:srgbClr val="DCEFEB"/>
          </a:solidFill>
          <a:ln>
            <a:solidFill>
              <a:srgbClr val="DCEF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265 time-domain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4873752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FDE8DB"/>
          </a:solidFill>
          <a:ln>
            <a:solidFill>
              <a:srgbClr val="FDE8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289 frequency-domain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873752"/>
            <a:ext cx="868680" cy="384048"/>
          </a:xfrm>
          <a:prstGeom prst="roundRect">
            <a:avLst>
              <a:gd name="adj" fmla="val 28571"/>
            </a:avLst>
          </a:prstGeom>
          <a:solidFill>
            <a:srgbClr val="F8EFC7"/>
          </a:solidFill>
          <a:ln>
            <a:solidFill>
              <a:srgbClr val="F8EFC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7 angle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5486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Activities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580644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54B5A6"/>
          </a:solidFill>
          <a:ln>
            <a:solidFill>
              <a:srgbClr val="54B5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WALKING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75688" y="580644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F08A4B"/>
          </a:solidFill>
          <a:ln>
            <a:solidFill>
              <a:srgbClr val="F08A4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UPSTAIRS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580644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A4B2D3"/>
          </a:solidFill>
          <a:ln>
            <a:solidFill>
              <a:srgbClr val="A4B2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DOWNSTAIRS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9704" y="5806440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4B2D1"/>
          </a:solidFill>
          <a:ln>
            <a:solidFill>
              <a:srgbClr val="E4B2D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SITTING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50992" y="5806440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B7D47D"/>
          </a:solidFill>
          <a:ln>
            <a:solidFill>
              <a:srgbClr val="B7D47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STANDING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12280" y="5806440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6C84E"/>
          </a:solidFill>
          <a:ln>
            <a:solidFill>
              <a:srgbClr val="E6C84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24D"/>
                </a:solidFill>
              </a:rPr>
              <a:t>LAYING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46520" y="126187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1371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10,299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56248" y="1691640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observations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15400" y="1261872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006840" y="1371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561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25128" y="1691640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engineered features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46520" y="2395728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37960" y="25054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56248" y="2825496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participants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15400" y="2395728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6C84E"/>
          </a:solidFill>
          <a:ln w="12700">
            <a:solidFill>
              <a:srgbClr val="E6C84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006840" y="25054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25128" y="2825496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24D"/>
                </a:solidFill>
              </a:rPr>
              <a:t>activity classes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70332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309360" y="3703320"/>
            <a:ext cx="118872" cy="1920240"/>
          </a:xfrm>
          <a:prstGeom prst="roundRect">
            <a:avLst>
              <a:gd name="adj" fmla="val 61538"/>
            </a:avLst>
          </a:prstGeom>
          <a:solidFill>
            <a:srgbClr val="7BCBC0"/>
          </a:solidFill>
          <a:ln w="12700">
            <a:solidFill>
              <a:srgbClr val="7BCB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65392" y="3849624"/>
            <a:ext cx="4636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Why the feature engineering matters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565392" y="4178808"/>
            <a:ext cx="4617720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The 561 columns summarize time-domain behavior, frequency content, jerk, and magnitudes. Those summaries are informative, but they also create a space that is far too wide to visualize directly.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7324D"/>
                </a:solidFill>
                <a:latin typeface="Aptos Display"/>
              </a:rPr>
              <a:t>How the 561 Features Were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04672"/>
            <a:ext cx="10972800" cy="13716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2708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7000"/>
              </a:lnSpc>
            </a:pPr>
            <a:r>
              <a:rPr sz="1550" b="0">
                <a:solidFill>
                  <a:srgbClr val="17202C"/>
                </a:solidFill>
                <a:latin typeface="Aptos"/>
              </a:rPr>
              <a:t>They are not 561 raw channels. Each 2.56-second window starts with raw accelerometer and gyroscope traces, then the dataset authors engineer multiple derived signals and summarize each one with statistics.</a:t>
            </a:r>
          </a:p>
        </p:txBody>
      </p:sp>
      <p:sp>
        <p:nvSpPr>
          <p:cNvPr id="5" name="Chevron 4"/>
          <p:cNvSpPr/>
          <p:nvPr/>
        </p:nvSpPr>
        <p:spPr>
          <a:xfrm>
            <a:off x="694944" y="1901952"/>
            <a:ext cx="1325880" cy="868680"/>
          </a:xfrm>
          <a:prstGeom prst="chevron">
            <a:avLst/>
          </a:prstGeom>
          <a:solidFill>
            <a:srgbClr val="1F4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6" name="Chevron 5"/>
          <p:cNvSpPr/>
          <p:nvPr/>
        </p:nvSpPr>
        <p:spPr>
          <a:xfrm>
            <a:off x="2002536" y="1901952"/>
            <a:ext cx="1325880" cy="868680"/>
          </a:xfrm>
          <a:prstGeom prst="chevron">
            <a:avLst/>
          </a:prstGeom>
          <a:solidFill>
            <a:srgbClr val="54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7" name="Chevron 6"/>
          <p:cNvSpPr/>
          <p:nvPr/>
        </p:nvSpPr>
        <p:spPr>
          <a:xfrm>
            <a:off x="3310128" y="1901952"/>
            <a:ext cx="1325880" cy="868680"/>
          </a:xfrm>
          <a:prstGeom prst="chevron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8" name="Chevron 7"/>
          <p:cNvSpPr/>
          <p:nvPr/>
        </p:nvSpPr>
        <p:spPr>
          <a:xfrm>
            <a:off x="4617720" y="1901952"/>
            <a:ext cx="1325880" cy="868680"/>
          </a:xfrm>
          <a:prstGeom prst="chevron">
            <a:avLst/>
          </a:prstGeom>
          <a:solidFill>
            <a:srgbClr val="E5C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9" name="Chevron 8"/>
          <p:cNvSpPr/>
          <p:nvPr/>
        </p:nvSpPr>
        <p:spPr>
          <a:xfrm>
            <a:off x="5925312" y="1901952"/>
            <a:ext cx="1325880" cy="868680"/>
          </a:xfrm>
          <a:prstGeom prst="chevron">
            <a:avLst/>
          </a:prstGeom>
          <a:solidFill>
            <a:srgbClr val="6C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852928"/>
            <a:ext cx="1234440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6B7785"/>
                </a:solidFill>
                <a:latin typeface="Aptos"/>
              </a:rPr>
              <a:t>accel + gyro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1" y="2852928"/>
            <a:ext cx="1325880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6B7785"/>
                </a:solidFill>
                <a:latin typeface="Aptos"/>
              </a:rPr>
              <a:t>body vs gravity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852928"/>
            <a:ext cx="1325880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6B7785"/>
                </a:solidFill>
                <a:latin typeface="Aptos"/>
              </a:rPr>
              <a:t>derived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852928"/>
            <a:ext cx="1325880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6B7785"/>
                </a:solidFill>
                <a:latin typeface="Aptos"/>
              </a:rPr>
              <a:t>frequency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852928"/>
            <a:ext cx="1554480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6B7785"/>
                </a:solidFill>
                <a:latin typeface="Aptos"/>
              </a:rPr>
              <a:t>window summaries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700784"/>
            <a:ext cx="3310128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47888" y="1700784"/>
            <a:ext cx="91440" cy="1938528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056" y="1837944"/>
            <a:ext cx="299923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Exact final mix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7072" y="2240280"/>
            <a:ext cx="969264" cy="384048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7324D"/>
                </a:solidFill>
                <a:latin typeface="Aptos"/>
              </a:rPr>
              <a:t>265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258568"/>
            <a:ext cx="15544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>
                <a:solidFill>
                  <a:srgbClr val="17202C"/>
                </a:solidFill>
                <a:latin typeface="Aptos"/>
              </a:rPr>
              <a:t>time-domain
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7072" y="2724912"/>
            <a:ext cx="969264" cy="384048"/>
          </a:xfrm>
          <a:prstGeom prst="roundRect">
            <a:avLst/>
          </a:prstGeom>
          <a:solidFill>
            <a:srgbClr val="FDE8DB"/>
          </a:solidFill>
          <a:ln>
            <a:solidFill>
              <a:srgbClr val="FDE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7324D"/>
                </a:solidFill>
                <a:latin typeface="Aptos"/>
              </a:rPr>
              <a:t>289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743200"/>
            <a:ext cx="15544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>
                <a:solidFill>
                  <a:srgbClr val="17202C"/>
                </a:solidFill>
                <a:latin typeface="Aptos"/>
              </a:rPr>
              <a:t>frequency-domain
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7072" y="3209544"/>
            <a:ext cx="969264" cy="384048"/>
          </a:xfrm>
          <a:prstGeom prst="roundRect">
            <a:avLst/>
          </a:prstGeom>
          <a:solidFill>
            <a:srgbClr val="F8EFC7"/>
          </a:solidFill>
          <a:ln>
            <a:solidFill>
              <a:srgbClr val="F8E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7324D"/>
                </a:solidFill>
                <a:latin typeface="Apto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3227832"/>
            <a:ext cx="15544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>
                <a:solidFill>
                  <a:srgbClr val="17202C"/>
                </a:solidFill>
                <a:latin typeface="Aptos"/>
              </a:rPr>
              <a:t>angle
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3822191"/>
            <a:ext cx="331012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47888" y="3822191"/>
            <a:ext cx="91440" cy="1572768"/>
          </a:xfrm>
          <a:prstGeom prst="rect">
            <a:avLst/>
          </a:prstGeom>
          <a:solidFill>
            <a:srgbClr val="54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49056" y="3959352"/>
            <a:ext cx="299923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Why PCA can compress 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4242816"/>
            <a:ext cx="3090672" cy="10789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  <a:defRPr sz="1120">
                <a:solidFill>
                  <a:srgbClr val="17202C"/>
                </a:solidFill>
                <a:latin typeface="Aptos"/>
              </a:defRPr>
            </a:pPr>
            <a:r>
              <a:t>Many features are related because they come from the same underlying motion signal.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  <a:defRPr sz="1120">
                <a:solidFill>
                  <a:srgbClr val="17202C"/>
                </a:solidFill>
                <a:latin typeface="Aptos"/>
              </a:defRPr>
            </a:pPr>
            <a:r>
              <a:t>Multiple statistics describe the same window from different angles, so redundancy builds up.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886200"/>
            <a:ext cx="7269480" cy="153619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4069080"/>
            <a:ext cx="6812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24D"/>
                </a:solidFill>
                <a:latin typeface="Aptos"/>
              </a:rPr>
              <a:t>One window = 128 samples per sensor axis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4370832"/>
            <a:ext cx="6903720" cy="8412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  <a:defRPr sz="1140">
                <a:solidFill>
                  <a:srgbClr val="17202C"/>
                </a:solidFill>
                <a:latin typeface="Aptos"/>
              </a:defRPr>
            </a:pPr>
            <a:r>
              <a:t>Waist-mounted phone records accelerometer and gyroscope signals at 50 Hz for 2.56 seconds.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  <a:defRPr sz="1140">
                <a:solidFill>
                  <a:srgbClr val="17202C"/>
                </a:solidFill>
                <a:latin typeface="Aptos"/>
              </a:defRPr>
            </a:pPr>
            <a:r>
              <a:t>Filtering separates body motion from gravity; derivatives and magnitudes create additional signal families.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  <a:defRPr sz="1140">
                <a:solidFill>
                  <a:srgbClr val="17202C"/>
                </a:solidFill>
                <a:latin typeface="Aptos"/>
              </a:defRPr>
            </a:pPr>
            <a:r>
              <a:t>The final feature table stores summaries of those processed signals, not the raw waveform itself.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44652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>
                <a:solidFill>
                  <a:srgbClr val="6B7785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2203704"/>
            <a:ext cx="89611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2203704"/>
            <a:ext cx="89611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2203704"/>
            <a:ext cx="89611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Derive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2203704"/>
            <a:ext cx="89611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FFT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4" y="2203704"/>
            <a:ext cx="896112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7324D"/>
                </a:solidFill>
                <a:latin typeface="Aptos Display"/>
              </a:rPr>
              <a:t>What Some Feature Names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04672"/>
            <a:ext cx="10972800" cy="13716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7202C"/>
                </a:solidFill>
                <a:latin typeface="Aptos"/>
              </a:rPr>
              <a:t>Feature names follow a pattern: domain → signal family → statistic → axis. Once you decode the pieces, the 561 columns become much less mysterious.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404164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91440" cy="4553712"/>
          </a:xfrm>
          <a:prstGeom prst="rect">
            <a:avLst/>
          </a:prstGeom>
          <a:solidFill>
            <a:srgbClr val="54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373075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How to read one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920240"/>
            <a:ext cx="35204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6B7785"/>
                </a:solidFill>
                <a:latin typeface="Aptos"/>
              </a:rPr>
              <a:t>Example: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" y="2267712"/>
            <a:ext cx="438912" cy="420624"/>
          </a:xfrm>
          <a:prstGeom prst="roundRect">
            <a:avLst/>
          </a:prstGeom>
          <a:solidFill>
            <a:srgbClr val="54B5A6"/>
          </a:solidFill>
          <a:ln>
            <a:solidFill>
              <a:srgbClr val="54B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9616" y="2267712"/>
            <a:ext cx="1499616" cy="420624"/>
          </a:xfrm>
          <a:prstGeom prst="roundRect">
            <a:avLst/>
          </a:prstGeom>
          <a:solidFill>
            <a:srgbClr val="F08A4B"/>
          </a:solidFill>
          <a:ln>
            <a:solidFill>
              <a:srgbClr val="F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BodyGyro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2267712"/>
            <a:ext cx="1078992" cy="420624"/>
          </a:xfrm>
          <a:prstGeom prst="roundRect">
            <a:avLst/>
          </a:prstGeom>
          <a:solidFill>
            <a:srgbClr val="E5C54A"/>
          </a:solidFill>
          <a:ln>
            <a:solidFill>
              <a:srgbClr val="E5C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7324D"/>
                </a:solidFill>
                <a:latin typeface="Aptos"/>
              </a:rPr>
              <a:t>energy()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2267712"/>
            <a:ext cx="310896" cy="420624"/>
          </a:xfrm>
          <a:prstGeom prst="roundRect">
            <a:avLst/>
          </a:prstGeom>
          <a:solidFill>
            <a:srgbClr val="1F4568"/>
          </a:solidFill>
          <a:ln>
            <a:solidFill>
              <a:srgbClr val="1F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07792"/>
            <a:ext cx="10515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7324D"/>
                </a:solidFill>
                <a:latin typeface="Aptos"/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2907792"/>
            <a:ext cx="2578608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frequency-domain version of the signal (after FFT)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383280"/>
            <a:ext cx="10515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7324D"/>
                </a:solidFill>
                <a:latin typeface="Aptos"/>
              </a:rPr>
              <a:t>BodyGyro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383280"/>
            <a:ext cx="2578608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body rotation measured by the gyroscope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858768"/>
            <a:ext cx="10515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7324D"/>
                </a:solidFill>
                <a:latin typeface="Aptos"/>
              </a:rPr>
              <a:t>energy()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3858768"/>
            <a:ext cx="2578608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total power / intensity over the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334256"/>
            <a:ext cx="10515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7324D"/>
                </a:solidFill>
                <a:latin typeface="Aptos"/>
              </a:rPr>
              <a:t>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334256"/>
            <a:ext cx="2578608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vertical or spin-related axis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809744"/>
            <a:ext cx="10515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7324D"/>
                </a:solidFill>
                <a:latin typeface="Aptos"/>
              </a:rPr>
              <a:t>No X/Y/Z suffix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4809744"/>
            <a:ext cx="2578608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means the feature is a magnitude that already combines axes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7488" y="1664208"/>
            <a:ext cx="3090672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47488" y="1664208"/>
            <a:ext cx="91440" cy="1810512"/>
          </a:xfrm>
          <a:prstGeom prst="rect">
            <a:avLst/>
          </a:prstGeom>
          <a:solidFill>
            <a:srgbClr val="54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48655" y="1801368"/>
            <a:ext cx="277977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tBodyAcc-mean()-X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5" y="2194560"/>
            <a:ext cx="2779776" cy="1152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60" b="0">
                <a:solidFill>
                  <a:srgbClr val="17202C"/>
                </a:solidFill>
                <a:latin typeface="Aptos"/>
              </a:rPr>
              <a:t>Average body acceleration along the X axis during the 2.56-second window.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1664208"/>
            <a:ext cx="3090672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47888" y="1664208"/>
            <a:ext cx="91440" cy="1810512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49056" y="1801368"/>
            <a:ext cx="277977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tBodyAccJerk-std()-Y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194560"/>
            <a:ext cx="2779776" cy="1152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60" b="0">
                <a:solidFill>
                  <a:srgbClr val="17202C"/>
                </a:solidFill>
                <a:latin typeface="Aptos"/>
              </a:rPr>
              <a:t>How much the rate of change of acceleration varies along the Y axis.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7488" y="3730752"/>
            <a:ext cx="3090672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47488" y="3730752"/>
            <a:ext cx="91440" cy="1810512"/>
          </a:xfrm>
          <a:prstGeom prst="rect">
            <a:avLst/>
          </a:prstGeom>
          <a:solidFill>
            <a:srgbClr val="E5C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48655" y="3867912"/>
            <a:ext cx="277977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fBodyGyro-energy()-Z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8655" y="4261104"/>
            <a:ext cx="2779776" cy="1152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60" b="0">
                <a:solidFill>
                  <a:srgbClr val="17202C"/>
                </a:solidFill>
                <a:latin typeface="Aptos"/>
              </a:rPr>
              <a:t>Total rotational power around the Z axis, measured in the frequency domain.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3730752"/>
            <a:ext cx="3090672" cy="1810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47888" y="3730752"/>
            <a:ext cx="91440" cy="1810512"/>
          </a:xfrm>
          <a:prstGeom prst="rect">
            <a:avLst/>
          </a:prstGeom>
          <a:solidFill>
            <a:srgbClr val="1F4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49056" y="3867912"/>
            <a:ext cx="277977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tBodyAccMag-mean()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6" y="4261104"/>
            <a:ext cx="2779776" cy="11521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60" b="0">
                <a:solidFill>
                  <a:srgbClr val="17202C"/>
                </a:solidFill>
                <a:latin typeface="Aptos"/>
              </a:rPr>
              <a:t>Average overall movement strength; no axis suffix because magnitude already combines X, Y, and Z.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806440"/>
            <a:ext cx="10058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7785"/>
                </a:solidFill>
                <a:latin typeface="Aptos"/>
              </a:rPr>
              <a:t>Quick dictionary: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4496" y="5751576"/>
            <a:ext cx="914400" cy="292608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60" b="1">
                <a:solidFill>
                  <a:srgbClr val="17324D"/>
                </a:solidFill>
                <a:latin typeface="Aptos"/>
              </a:rPr>
              <a:t>t = 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42048" y="5751576"/>
            <a:ext cx="1051560" cy="292608"/>
          </a:xfrm>
          <a:prstGeom prst="roundRect">
            <a:avLst/>
          </a:prstGeom>
          <a:solidFill>
            <a:srgbClr val="FDE8DB"/>
          </a:solidFill>
          <a:ln>
            <a:solidFill>
              <a:srgbClr val="FDE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60" b="1">
                <a:solidFill>
                  <a:srgbClr val="17324D"/>
                </a:solidFill>
                <a:latin typeface="Aptos"/>
              </a:rPr>
              <a:t>f = FFT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5751576"/>
            <a:ext cx="1143000" cy="292608"/>
          </a:xfrm>
          <a:prstGeom prst="roundRect">
            <a:avLst/>
          </a:prstGeom>
          <a:solidFill>
            <a:srgbClr val="F8EFC7"/>
          </a:solidFill>
          <a:ln>
            <a:solidFill>
              <a:srgbClr val="F8E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40" b="1">
                <a:solidFill>
                  <a:srgbClr val="17324D"/>
                </a:solidFill>
                <a:latin typeface="Aptos"/>
              </a:rPr>
              <a:t>Jerk = Δ signal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2" y="5751576"/>
            <a:ext cx="1298448" cy="292608"/>
          </a:xfrm>
          <a:prstGeom prst="roundRect">
            <a:avLst/>
          </a:prstGeom>
          <a:solidFill>
            <a:srgbClr val="EAF3FB"/>
          </a:solidFill>
          <a:ln>
            <a:solidFill>
              <a:srgbClr val="EA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40" b="1">
                <a:solidFill>
                  <a:srgbClr val="17324D"/>
                </a:solidFill>
                <a:latin typeface="Aptos"/>
              </a:rPr>
              <a:t>Mag = vector norm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03152" y="644652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>
                <a:solidFill>
                  <a:srgbClr val="6B77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Compresses the Dataset into a 2D 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7202C"/>
                </a:solidFill>
              </a:rPr>
              <a:t>The rows stay the same. PCA only changes how many columns we use to describe each window.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Before PCA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568"/>
                </a:solidFill>
              </a:rPr>
              <a:t>10,299 × 561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78A"/>
                </a:solidFill>
              </a:rPr>
              <a:t>full standardized feature space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487168"/>
            <a:ext cx="1234440" cy="658368"/>
          </a:xfrm>
          <a:prstGeom prst="chevron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986784" y="3310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78A"/>
                </a:solidFill>
              </a:rPr>
              <a:t>same rows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C778A"/>
                </a:solidFill>
              </a:rPr>
              <a:t>far fewer 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87452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EEF7F5"/>
          </a:solidFill>
          <a:ln w="19050">
            <a:solidFill>
              <a:srgbClr val="54B5A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669280" y="2057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After PCA (2 PCs)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0644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4B5A6"/>
                </a:solidFill>
              </a:rPr>
              <a:t>10,299 × 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06440" y="3154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78A"/>
                </a:solidFill>
              </a:rPr>
              <a:t>PCA visualization space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0" y="1691640"/>
            <a:ext cx="2377440" cy="27432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961120" y="1691640"/>
            <a:ext cx="118872" cy="2743200"/>
          </a:xfrm>
          <a:prstGeom prst="roundRect">
            <a:avLst>
              <a:gd name="adj" fmla="val 61538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217152" y="183794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Why reduce?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17152" y="2167128"/>
            <a:ext cx="2011680" cy="2157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sz="1150">
                <a:solidFill>
                  <a:srgbClr val="17202C"/>
                </a:solidFill>
              </a:rPr>
              <a:t>• 561 dimensions cannot be visualized directly</a:t>
            </a:r>
          </a:p>
          <a:p>
            <a:r>
              <a:rPr sz="1150">
                <a:solidFill>
                  <a:srgbClr val="17202C"/>
                </a:solidFill>
              </a:rPr>
              <a:t>• correlated engineered features make interpretation messy</a:t>
            </a:r>
          </a:p>
          <a:p>
            <a:r>
              <a:rPr sz="1150">
                <a:solidFill>
                  <a:srgbClr val="17202C"/>
                </a:solidFill>
              </a:rPr>
              <a:t>• a 2D map lets us inspect clusters and overlap live</a:t>
            </a:r>
          </a:p>
          <a:p>
            <a:r>
              <a:rPr sz="1150">
                <a:solidFill>
                  <a:srgbClr val="17202C"/>
                </a:solidFill>
              </a:rPr>
              <a:t>• PCA is unsupervised, so labels are added afterward to interpret the map</a:t>
            </a:r>
          </a:p>
        </p:txBody>
      </p:sp>
      <p:sp>
        <p:nvSpPr>
          <p:cNvPr id="19" name="Text 17"/>
          <p:cNvSpPr/>
          <p:nvPr/>
        </p:nvSpPr>
        <p:spPr>
          <a:xfrm>
            <a:off x="3017520" y="4864608"/>
            <a:ext cx="3566160" cy="438912"/>
          </a:xfrm>
          <a:prstGeom prst="roundRect">
            <a:avLst>
              <a:gd name="adj" fmla="val 25000"/>
            </a:avLst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Column reduction: 561 → 2 (about 280× fewer dimensions)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Analytical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241280" cy="1600200"/>
          </a:xfrm>
          <a:prstGeom prst="roundRect">
            <a:avLst>
              <a:gd name="adj" fmla="val 4571"/>
            </a:avLst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234440" y="1764792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Can PCA compress the high-dimensional smartphone activity dataset into a small number of components while still preserving enough structure to visually distinguish major human activities?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370332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0120" y="3703320"/>
            <a:ext cx="118872" cy="1508760"/>
          </a:xfrm>
          <a:prstGeom prst="roundRect">
            <a:avLst>
              <a:gd name="adj" fmla="val 61538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16152" y="384962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What we need to check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16152" y="4178808"/>
            <a:ext cx="274320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How much variance do the first PCs explain?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370332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26280" y="3703320"/>
            <a:ext cx="118872" cy="1508760"/>
          </a:xfrm>
          <a:prstGeom prst="roundRect">
            <a:avLst>
              <a:gd name="adj" fmla="val 61538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82312" y="384962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What we need to see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82312" y="4178808"/>
            <a:ext cx="274320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Do the six activities form useful patterns in 2D PCA space?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370332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092440" y="3703320"/>
            <a:ext cx="118872" cy="1508760"/>
          </a:xfrm>
          <a:prstGeom prst="roundRect">
            <a:avLst>
              <a:gd name="adj" fmla="val 61538"/>
            </a:avLst>
          </a:prstGeom>
          <a:solidFill>
            <a:srgbClr val="E6C84E"/>
          </a:solidFill>
          <a:ln w="12700">
            <a:solidFill>
              <a:srgbClr val="E6C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48472" y="384962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What we need to interpret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48472" y="4178808"/>
            <a:ext cx="274320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What kinds of activity differences seem to define PC1 and PC2?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5806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6C778A"/>
                </a:solidFill>
              </a:rPr>
              <a:t>This turns the project from “run PCA” into “judge whether the low-dimensional view still tells a meaningful story.”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7324D"/>
                </a:solidFill>
                <a:latin typeface="Aptos Display"/>
              </a:rPr>
              <a:t>How We Standardized Before PCA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04672"/>
            <a:ext cx="10972800" cy="13716"/>
          </a:xfrm>
          <a:prstGeom prst="rect">
            <a:avLst/>
          </a:prstGeom>
          <a:solidFill>
            <a:srgbClr val="D7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972800" cy="4023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>
                <a:solidFill>
                  <a:srgbClr val="17202C"/>
                </a:solidFill>
                <a:latin typeface="Aptos"/>
              </a:rPr>
              <a:t>PCA is scale-sensitive, so the notebook standardizes each feature column independently with StandardScaler before fitting PCA.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3703320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91440" cy="3529584"/>
          </a:xfrm>
          <a:prstGeom prst="rect">
            <a:avLst/>
          </a:prstGeom>
          <a:solidFill>
            <a:srgbClr val="54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3392424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Column-wise z-score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93392"/>
            <a:ext cx="2926080" cy="4937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17324D"/>
                </a:solidFill>
                <a:latin typeface="Aptos"/>
              </a:rPr>
              <a:t>zᵢⱼ = (xᵢⱼ − μⱼ) / σⱼ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97480"/>
            <a:ext cx="3200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6B7785"/>
                </a:solidFill>
                <a:latin typeface="Aptos"/>
              </a:rPr>
              <a:t>For each feature column j separately: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310128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  <a:defRPr sz="1160">
                <a:solidFill>
                  <a:srgbClr val="17202C"/>
                </a:solidFill>
                <a:latin typeface="Aptos"/>
              </a:defRPr>
            </a:pPr>
            <a:r>
              <a:t>Compute that column's mean μⱼ and standard deviation σⱼ across all rows.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  <a:defRPr sz="1160">
                <a:solidFill>
                  <a:srgbClr val="17202C"/>
                </a:solidFill>
                <a:latin typeface="Aptos"/>
              </a:defRPr>
            </a:pPr>
            <a:r>
              <a:t>Subtract μⱼ from every value in the column.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  <a:defRPr sz="1160">
                <a:solidFill>
                  <a:srgbClr val="17202C"/>
                </a:solidFill>
                <a:latin typeface="Aptos"/>
              </a:defRPr>
            </a:pPr>
            <a:r>
              <a:t>Divide by σⱼ so the transformed column has comparable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4507992"/>
            <a:ext cx="318211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7324D"/>
                </a:solidFill>
                <a:latin typeface="Aptos"/>
              </a:rPr>
              <a:t>Important: this is per-feature scaling, not one global mean for the whole matrix.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572768"/>
            <a:ext cx="6839712" cy="2340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81728" y="1572768"/>
            <a:ext cx="91440" cy="2340864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01184" y="1737360"/>
            <a:ext cx="2743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17324D"/>
                </a:solidFill>
                <a:latin typeface="Aptos"/>
              </a:rPr>
              <a:t>Why that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121408"/>
            <a:ext cx="1508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>
                <a:solidFill>
                  <a:srgbClr val="6B7785"/>
                </a:solidFill>
                <a:latin typeface="Aptos"/>
              </a:rPr>
              <a:t>Feature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21408"/>
            <a:ext cx="1508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>
                <a:solidFill>
                  <a:srgbClr val="6B7785"/>
                </a:solidFill>
                <a:latin typeface="Aptos"/>
              </a:rPr>
              <a:t>Raw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21408"/>
            <a:ext cx="1508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>
                <a:solidFill>
                  <a:srgbClr val="6B7785"/>
                </a:solidFill>
                <a:latin typeface="Aptos"/>
              </a:rPr>
              <a:t>After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21408"/>
            <a:ext cx="1508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1">
                <a:solidFill>
                  <a:srgbClr val="6B7785"/>
                </a:solidFill>
                <a:latin typeface="Aptos"/>
              </a:rPr>
              <a:t>PCA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82896" y="2395728"/>
            <a:ext cx="6400800" cy="420624"/>
          </a:xfrm>
          <a:prstGeom prst="roundRect">
            <a:avLst/>
          </a:prstGeom>
          <a:solidFill>
            <a:srgbClr val="DC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488" y="2432304"/>
            <a:ext cx="14173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7324D"/>
                </a:solidFill>
                <a:latin typeface="Aptos"/>
              </a:rPr>
              <a:t>Small-range 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32304"/>
            <a:ext cx="150876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0">
                <a:solidFill>
                  <a:srgbClr val="17202C"/>
                </a:solidFill>
                <a:latin typeface="Aptos"/>
              </a:rPr>
              <a:t>tiny variance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32304"/>
            <a:ext cx="1298448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0">
                <a:solidFill>
                  <a:srgbClr val="17202C"/>
                </a:solidFill>
                <a:latin typeface="Aptos"/>
              </a:rPr>
              <a:t>mean 0, std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432304"/>
            <a:ext cx="150876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0">
                <a:solidFill>
                  <a:srgbClr val="17202C"/>
                </a:solidFill>
                <a:latin typeface="Aptos"/>
              </a:rPr>
              <a:t>not drowned 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82896" y="2926080"/>
            <a:ext cx="6400800" cy="420624"/>
          </a:xfrm>
          <a:prstGeom prst="roundRect">
            <a:avLst/>
          </a:prstGeom>
          <a:solidFill>
            <a:srgbClr val="FD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47488" y="2962656"/>
            <a:ext cx="141732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1">
                <a:solidFill>
                  <a:srgbClr val="17324D"/>
                </a:solidFill>
                <a:latin typeface="Aptos"/>
              </a:rPr>
              <a:t>Large-range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62656"/>
            <a:ext cx="150876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0">
                <a:solidFill>
                  <a:srgbClr val="17202C"/>
                </a:solidFill>
                <a:latin typeface="Aptos"/>
              </a:rPr>
              <a:t>large variance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962656"/>
            <a:ext cx="1298448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0">
                <a:solidFill>
                  <a:srgbClr val="17202C"/>
                </a:solidFill>
                <a:latin typeface="Aptos"/>
              </a:rPr>
              <a:t>mean 0, std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962656"/>
            <a:ext cx="150876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40" b="0">
                <a:solidFill>
                  <a:srgbClr val="17202C"/>
                </a:solidFill>
                <a:latin typeface="Aptos"/>
              </a:rPr>
              <a:t>cannot dominate by scale alone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279392"/>
            <a:ext cx="3401568" cy="1188720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" y="4279392"/>
            <a:ext cx="91440" cy="1188720"/>
          </a:xfrm>
          <a:prstGeom prst="rect">
            <a:avLst/>
          </a:prstGeom>
          <a:solidFill>
            <a:srgbClr val="54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425696"/>
            <a:ext cx="3017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324D"/>
                </a:solidFill>
                <a:latin typeface="Aptos"/>
              </a:rPr>
              <a:t>Comparable footing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700016"/>
            <a:ext cx="301752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Every one of the 561 columns is centered and rescaled before PCA.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279392"/>
            <a:ext cx="3401568" cy="1188720"/>
          </a:xfrm>
          <a:prstGeom prst="roundRect">
            <a:avLst/>
          </a:prstGeom>
          <a:solidFill>
            <a:srgbClr val="FDE8DB"/>
          </a:solidFill>
          <a:ln>
            <a:solidFill>
              <a:srgbClr val="FDE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4279392"/>
            <a:ext cx="91440" cy="118872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0288" y="4425696"/>
            <a:ext cx="3017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324D"/>
                </a:solidFill>
                <a:latin typeface="Aptos"/>
              </a:rPr>
              <a:t>No global mean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700016"/>
            <a:ext cx="301752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We do not use one mean/std for the entire matrix because that would let large-range features dominate.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4279392"/>
            <a:ext cx="3401568" cy="1188720"/>
          </a:xfrm>
          <a:prstGeom prst="roundRect">
            <a:avLst/>
          </a:prstGeom>
          <a:solidFill>
            <a:srgbClr val="F8EFC7"/>
          </a:solidFill>
          <a:ln>
            <a:solidFill>
              <a:srgbClr val="F8E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65008" y="4279392"/>
            <a:ext cx="91440" cy="1188720"/>
          </a:xfrm>
          <a:prstGeom prst="rect">
            <a:avLst/>
          </a:prstGeom>
          <a:solidFill>
            <a:srgbClr val="E5C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66176" y="4425696"/>
            <a:ext cx="3017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324D"/>
                </a:solidFill>
                <a:latin typeface="Aptos"/>
              </a:rPr>
              <a:t>Notebook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4700016"/>
            <a:ext cx="3017520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20" b="0">
                <a:solidFill>
                  <a:srgbClr val="17202C"/>
                </a:solidFill>
                <a:latin typeface="Aptos"/>
              </a:rPr>
              <a:t>After scaling, the notebook reports an overall mean ≈ 0 and standard deviation ≈ 1.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03152" y="644652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>
                <a:solidFill>
                  <a:srgbClr val="6B77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Preparing the Data for PCA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389120" cy="45262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13232" y="1188720"/>
            <a:ext cx="118872" cy="4526280"/>
          </a:xfrm>
          <a:prstGeom prst="roundRect">
            <a:avLst>
              <a:gd name="adj" fmla="val 61538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9264" y="133502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Preprocessing decisions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1664208"/>
            <a:ext cx="4023360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• merged train and test splits because the goal is exploration, not classifier evaluation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• checked the merged table for missing values (none found)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• kept the six human-readable activity labels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• standardized all 561 numeric features before PCA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4526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Why scale first?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408" y="4818888"/>
            <a:ext cx="1234440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31720" y="46817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7202C"/>
                </a:solidFill>
              </a:rPr>
              <a:t>After standardization, the notebook reports mean ≈ 0 and standard deviation ≈ 1 across the scaled matrix, so no feature dominates PCA just because it uses bigger numbers.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486400" y="1234440"/>
            <a:ext cx="59893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mnt/data/har_pca_assets/cell10_ou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937" y="1481328"/>
            <a:ext cx="4318246" cy="3337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4983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C778A"/>
                </a:solidFill>
              </a:rPr>
              <a:t>Class counts are fairly balanced, so the PCA picture is not being driven by one overwhelmingly large class.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715000" y="5669280"/>
            <a:ext cx="1691640" cy="365760"/>
          </a:xfrm>
          <a:prstGeom prst="roundRect">
            <a:avLst>
              <a:gd name="adj" fmla="val 30000"/>
            </a:avLst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7,352 train rows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89520" y="5669280"/>
            <a:ext cx="1600200" cy="365760"/>
          </a:xfrm>
          <a:prstGeom prst="roundRect">
            <a:avLst>
              <a:gd name="adj" fmla="val 30000"/>
            </a:avLst>
          </a:prstGeom>
          <a:solidFill>
            <a:srgbClr val="EEF7F5"/>
          </a:solidFill>
          <a:ln>
            <a:solidFill>
              <a:srgbClr val="EEF7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2,947 test rows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372600" y="5669280"/>
            <a:ext cx="1554480" cy="365760"/>
          </a:xfrm>
          <a:prstGeom prst="roundRect">
            <a:avLst>
              <a:gd name="adj" fmla="val 30000"/>
            </a:avLst>
          </a:prstGeom>
          <a:solidFill>
            <a:srgbClr val="FDE8DB"/>
          </a:solidFill>
          <a:ln>
            <a:solidFill>
              <a:srgbClr val="FDE8D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</a:rPr>
              <a:t>0 missing values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in Plain English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77240" y="1435608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41832" y="1325880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7202C"/>
                </a:solidFill>
              </a:rPr>
              <a:t>PCA creates new axes called principal components.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77240" y="2075688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41832" y="1965960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7202C"/>
                </a:solidFill>
              </a:rPr>
              <a:t>PC1 is the single direction with the most variation in the dataset.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41832" y="2606040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7202C"/>
                </a:solidFill>
              </a:rPr>
              <a:t>PC2 captures the next biggest pattern while staying different from PC1.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77240" y="3355848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41832" y="3246120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7202C"/>
                </a:solidFill>
              </a:rPr>
              <a:t>Using only the first two PCs gives a simplified map that humans can actually see.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469380" y="1420368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6812280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 simple mental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19019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02C"/>
                </a:solidFill>
              </a:rPr>
              <a:t>Think of PCA as turning the camera so the data cloud is viewed from the most informative angle.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 rot="1080000">
            <a:off x="6918110" y="2811778"/>
            <a:ext cx="1737360" cy="960120"/>
          </a:xfrm>
          <a:prstGeom prst="ellipse">
            <a:avLst/>
          </a:prstGeom>
          <a:solidFill>
            <a:srgbClr val="D9EAF6">
              <a:alpha val="92000"/>
            </a:srgbClr>
          </a:solidFill>
          <a:ln w="15240">
            <a:solidFill>
              <a:srgbClr val="8CB7D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6" name="Shape 14"/>
          <p:cNvSpPr/>
          <p:nvPr/>
        </p:nvSpPr>
        <p:spPr>
          <a:xfrm flipV="1">
            <a:off x="7755465" y="3182111"/>
            <a:ext cx="713317" cy="219453"/>
          </a:xfrm>
          <a:prstGeom prst="line">
            <a:avLst/>
          </a:prstGeom>
          <a:noFill/>
          <a:ln w="25400">
            <a:solidFill>
              <a:srgbClr val="1F456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 flipH="1" flipV="1">
            <a:off x="7502735" y="2935223"/>
            <a:ext cx="252731" cy="466341"/>
          </a:xfrm>
          <a:prstGeom prst="line">
            <a:avLst/>
          </a:prstGeom>
          <a:noFill/>
          <a:ln w="25400">
            <a:solidFill>
              <a:srgbClr val="F08A4B"/>
            </a:solidFill>
            <a:prstDash val="solid"/>
            <a:tailEnd type="triangle"/>
          </a:ln>
        </p:spPr>
        <p:txBody>
          <a:bodyPr/>
          <a:lstStyle/>
          <a:p>
            <a:endParaRPr dirty="0"/>
          </a:p>
        </p:txBody>
      </p:sp>
      <p:sp>
        <p:nvSpPr>
          <p:cNvPr id="18" name="Text 16"/>
          <p:cNvSpPr/>
          <p:nvPr/>
        </p:nvSpPr>
        <p:spPr>
          <a:xfrm>
            <a:off x="8468783" y="2350007"/>
            <a:ext cx="2271184" cy="150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568"/>
                </a:solidFill>
              </a:rPr>
              <a:t>PC1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1767" y="2185416"/>
            <a:ext cx="3378199" cy="99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A4B"/>
                </a:solidFill>
              </a:rPr>
              <a:t>PC2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98280" y="2743200"/>
            <a:ext cx="777240" cy="438912"/>
          </a:xfrm>
          <a:prstGeom prst="chevron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219686" y="2569464"/>
            <a:ext cx="868680" cy="685800"/>
          </a:xfrm>
          <a:prstGeom prst="rect">
            <a:avLst/>
          </a:prstGeom>
          <a:solidFill>
            <a:srgbClr val="EEF7F5"/>
          </a:solidFill>
          <a:ln w="13970">
            <a:solidFill>
              <a:srgbClr val="54B5A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" name="Shape 20"/>
          <p:cNvSpPr/>
          <p:nvPr/>
        </p:nvSpPr>
        <p:spPr>
          <a:xfrm flipV="1">
            <a:off x="10441653" y="3090672"/>
            <a:ext cx="498547" cy="0"/>
          </a:xfrm>
          <a:prstGeom prst="line">
            <a:avLst/>
          </a:prstGeom>
          <a:noFill/>
          <a:ln w="15240">
            <a:solidFill>
              <a:srgbClr val="6C77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177272" y="3136392"/>
            <a:ext cx="0" cy="0"/>
          </a:xfrm>
          <a:prstGeom prst="line">
            <a:avLst/>
          </a:prstGeom>
          <a:noFill/>
          <a:ln w="15240">
            <a:solidFill>
              <a:srgbClr val="6C77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085831" y="3310128"/>
            <a:ext cx="1056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78A"/>
                </a:solidFill>
              </a:rPr>
              <a:t>2D 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452628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537960" y="4526280"/>
            <a:ext cx="118872" cy="1143000"/>
          </a:xfrm>
          <a:prstGeom prst="roundRect">
            <a:avLst>
              <a:gd name="adj" fmla="val 61538"/>
            </a:avLst>
          </a:prstGeom>
          <a:solidFill>
            <a:srgbClr val="E6C84E"/>
          </a:solidFill>
          <a:ln w="12700">
            <a:solidFill>
              <a:srgbClr val="E6C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793992" y="467258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Important limit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93992" y="5001768"/>
            <a:ext cx="438912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A 2D PCA plot is a summary for visualization. It keeps the biggest broad patterns, not every detail in the original 561-feature space.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10</a:t>
            </a:r>
            <a:endParaRPr lang="en-US" sz="900" dirty="0"/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AF3C2A5D-D552-A32B-0A7C-69D958B6CB2C}"/>
              </a:ext>
            </a:extLst>
          </p:cNvPr>
          <p:cNvSpPr/>
          <p:nvPr/>
        </p:nvSpPr>
        <p:spPr>
          <a:xfrm flipV="1">
            <a:off x="10441654" y="2660904"/>
            <a:ext cx="0" cy="429768"/>
          </a:xfrm>
          <a:prstGeom prst="line">
            <a:avLst/>
          </a:prstGeom>
          <a:noFill/>
          <a:ln w="15240">
            <a:solidFill>
              <a:srgbClr val="6C77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Sensor Windows to a PCA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13232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02C"/>
                </a:solidFill>
              </a:rPr>
              <a:t>The raw signals were already turned into engineered features. This notebook starts from that table, scales it, then projects it into a smaller coordinate system.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322576"/>
            <a:ext cx="1737360" cy="914400"/>
          </a:xfrm>
          <a:prstGeom prst="chevron">
            <a:avLst/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9536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 windows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22576" y="2331720"/>
            <a:ext cx="1737360" cy="914400"/>
          </a:xfrm>
          <a:prstGeom prst="chevron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432304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561 engineered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76472" y="2331720"/>
            <a:ext cx="1737360" cy="914400"/>
          </a:xfrm>
          <a:prstGeom prst="chevron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005072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Standardize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68112" y="2331720"/>
            <a:ext cx="1737360" cy="914400"/>
          </a:xfrm>
          <a:prstGeom prst="chevron">
            <a:avLst/>
          </a:prstGeom>
          <a:solidFill>
            <a:srgbClr val="E6C84E"/>
          </a:solidFill>
          <a:ln w="12700">
            <a:solidFill>
              <a:srgbClr val="E6C84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5577840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Fit PCA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31152" y="2331720"/>
            <a:ext cx="1737360" cy="914400"/>
          </a:xfrm>
          <a:prstGeom prst="chevron">
            <a:avLst/>
          </a:prstGeom>
          <a:solidFill>
            <a:srgbClr val="7BA7D9"/>
          </a:solidFill>
          <a:ln w="12700">
            <a:solidFill>
              <a:srgbClr val="7B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150608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2D PCA scores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94776" y="2331720"/>
            <a:ext cx="1645920" cy="914400"/>
          </a:xfrm>
          <a:prstGeom prst="chevron">
            <a:avLst/>
          </a:prstGeom>
          <a:solidFill>
            <a:srgbClr val="7FBEA8"/>
          </a:solidFill>
          <a:ln w="12700">
            <a:solidFill>
              <a:srgbClr val="7FBE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723376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Visual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4069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051560" y="4069080"/>
            <a:ext cx="118872" cy="1417320"/>
          </a:xfrm>
          <a:prstGeom prst="roundRect">
            <a:avLst>
              <a:gd name="adj" fmla="val 61538"/>
            </a:avLst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307592" y="42153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Notebook starting point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07592" y="4544568"/>
            <a:ext cx="278892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Merged train + test table with labels and subject IDs attached.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26280" y="4069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526280" y="4069080"/>
            <a:ext cx="118872" cy="1417320"/>
          </a:xfrm>
          <a:prstGeom prst="roundRect">
            <a:avLst>
              <a:gd name="adj" fmla="val 61538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82312" y="42153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Transformation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82312" y="4544568"/>
            <a:ext cx="278892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StandardScaler puts every feature on the same footing before PCA is fit.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01000" y="40690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001000" y="4069080"/>
            <a:ext cx="118872" cy="1417320"/>
          </a:xfrm>
          <a:prstGeom prst="roundRect">
            <a:avLst>
              <a:gd name="adj" fmla="val 61538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257032" y="4215384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Output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257032" y="4544568"/>
            <a:ext cx="278892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Two PCA coordinates per row, used for variance diagnostics and the main scatter plot.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Variation Is Captured Early — But Not All in 2 PCs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49808" y="1143000"/>
            <a:ext cx="53492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397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har_pca_assets/cell20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2" y="1298448"/>
            <a:ext cx="4751969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36208" y="1143000"/>
            <a:ext cx="52120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397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1" descr="/mnt/data/har_pca_assets/cell20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120" y="1298448"/>
            <a:ext cx="4751969" cy="2880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" y="4681728"/>
            <a:ext cx="4069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841248" y="4681728"/>
            <a:ext cx="118872" cy="1325880"/>
          </a:xfrm>
          <a:prstGeom prst="roundRect">
            <a:avLst>
              <a:gd name="adj" fmla="val 61538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1097280" y="482803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How to read the plots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097280" y="5157216"/>
            <a:ext cx="37033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PC1 alone explains 50.7% of the variance, and PC2 raises the cumulative total to 57.0%. After that, each added component contributes less.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166360" y="457200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1F4568"/>
          </a:solidFill>
          <a:ln w="12700">
            <a:solidFill>
              <a:srgbClr val="1F4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5468112" y="4736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numbers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0" y="50109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2 PCs → 56.98%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90% variance → 65 PCs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95% variance → 104 PCs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83880" y="4681728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183880" y="4681728"/>
            <a:ext cx="118872" cy="1325880"/>
          </a:xfrm>
          <a:prstGeom prst="roundRect">
            <a:avLst>
              <a:gd name="adj" fmla="val 61538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8439912" y="4828032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Interpretation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439912" y="5157216"/>
            <a:ext cx="26974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sz="1100">
                <a:solidFill>
                  <a:srgbClr val="17202C"/>
                </a:solidFill>
              </a:rPr>
              <a:t>Two PCs are enough for visualization, but not enough if the goal is to retain almost all original information. The elbow-shaped curve shows diminishing returns after the first few PCs.</a:t>
            </a:r>
          </a:p>
        </p:txBody>
      </p:sp>
      <p:sp>
        <p:nvSpPr>
          <p:cNvPr id="19" name="Text 15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Broad Activity Patterns Emerge in PCA Space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10863072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har_pca_assets/cell2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098" y="1143000"/>
            <a:ext cx="7721043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715000"/>
            <a:ext cx="3520440" cy="420624"/>
          </a:xfrm>
          <a:prstGeom prst="roundRect">
            <a:avLst>
              <a:gd name="adj" fmla="val 26087"/>
            </a:avLst>
          </a:prstGeom>
          <a:solidFill>
            <a:srgbClr val="EAF3FB"/>
          </a:solidFill>
          <a:ln>
            <a:solidFill>
              <a:srgbClr val="EAF3FB"/>
            </a:solidFill>
          </a:ln>
        </p:spPr>
        <p:txBody>
          <a:bodyPr wrap="square" lIns="73152" tIns="27432" rIns="73152" bIns="27432" rtlCol="0" anchor="ctr"/>
          <a:lstStyle/>
          <a:p>
            <a:pPr algn="l"/>
            <a:r>
              <a:rPr sz="1050" b="1">
                <a:solidFill>
                  <a:srgbClr val="17324D"/>
                </a:solidFill>
              </a:rPr>
              <a:t>PC1 cleanly splits moving vs mostly stationary windows, so movement intensity drives the first axis</a:t>
            </a:r>
          </a:p>
        </p:txBody>
      </p:sp>
      <p:sp>
        <p:nvSpPr>
          <p:cNvPr id="7" name="Text 4"/>
          <p:cNvSpPr/>
          <p:nvPr/>
        </p:nvSpPr>
        <p:spPr>
          <a:xfrm>
            <a:off x="4498848" y="5715000"/>
            <a:ext cx="3063240" cy="420624"/>
          </a:xfrm>
          <a:prstGeom prst="roundRect">
            <a:avLst>
              <a:gd name="adj" fmla="val 26087"/>
            </a:avLst>
          </a:prstGeom>
          <a:solidFill>
            <a:srgbClr val="EEF7F5"/>
          </a:solidFill>
          <a:ln>
            <a:solidFill>
              <a:srgbClr val="EEF7F5"/>
            </a:solidFill>
          </a:ln>
        </p:spPr>
        <p:txBody>
          <a:bodyPr wrap="square" lIns="73152" tIns="27432" rIns="73152" bIns="27432" rtlCol="0" anchor="ctr"/>
          <a:lstStyle/>
          <a:p>
            <a:pPr algn="l"/>
            <a:r>
              <a:rPr sz="1050" b="1">
                <a:solidFill>
                  <a:srgbClr val="17324D"/>
                </a:solidFill>
              </a:rPr>
              <a:t>Walking upstairs drops lower on PC2, indicating a distinct motion style even within walking</a:t>
            </a:r>
          </a:p>
        </p:txBody>
      </p:sp>
      <p:sp>
        <p:nvSpPr>
          <p:cNvPr id="8" name="Text 5"/>
          <p:cNvSpPr/>
          <p:nvPr/>
        </p:nvSpPr>
        <p:spPr>
          <a:xfrm>
            <a:off x="7699248" y="5715000"/>
            <a:ext cx="2926080" cy="420624"/>
          </a:xfrm>
          <a:prstGeom prst="roundRect">
            <a:avLst>
              <a:gd name="adj" fmla="val 26087"/>
            </a:avLst>
          </a:prstGeom>
          <a:solidFill>
            <a:srgbClr val="FDE8DB"/>
          </a:solidFill>
          <a:ln>
            <a:solidFill>
              <a:srgbClr val="FDE8DB"/>
            </a:solidFill>
          </a:ln>
        </p:spPr>
        <p:txBody>
          <a:bodyPr wrap="square" lIns="73152" tIns="27432" rIns="73152" bIns="27432" rtlCol="0" anchor="ctr"/>
          <a:lstStyle/>
          <a:p>
            <a:pPr algn="l"/>
            <a:r>
              <a:rPr sz="1050" b="1">
                <a:solidFill>
                  <a:srgbClr val="17324D"/>
                </a:solidFill>
              </a:rPr>
              <a:t>Sitting and standing overlap the most, which is why they are hardest to separate in 2D</a:t>
            </a:r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PC1 and PC2 in Plain English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18872" cy="2148840"/>
          </a:xfrm>
          <a:prstGeom prst="roundRect">
            <a:avLst>
              <a:gd name="adj" fmla="val 61538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87552" y="138074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PC1: a broad movement-intensity axis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1709928"/>
            <a:ext cx="4709160" cy="1563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Average PC1 for the three walking classes is +17.3, versus −14.1 for the mostly stationary classes. The notebook’s grouped loadings say PC1 is dominated by body-acceleration and overall-intensity features.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118872" cy="2011680"/>
          </a:xfrm>
          <a:prstGeom prst="roundRect">
            <a:avLst>
              <a:gd name="adj" fmla="val 61538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87552" y="380390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PC2: a finer movement-style axis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4133088"/>
            <a:ext cx="4709160" cy="1426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WALKING_UPSTAIRS has a much lower mean PC2 (−6.7) than WALKING and WALKING_DOWNSTAIRS together (+1.7). PC2 leans more on time-domain gyroscope and frequency/coefficient-style features.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2200" y="1207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Grouped loading summary (top 40 absolute loadings)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1481328"/>
          <a:ext cx="5166360" cy="123748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</a:rPr>
                        <a:t>Dominant signal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</a:rPr>
                        <a:t>Dominant style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PC1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Body acceleration (75.0%)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Magnitude / intensity (75.1%)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PC2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Gyroscope (35.6%)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Frequency / coefficient pattern (93.5%)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172200" y="30632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Activity centroids in the 2D PCA space</a:t>
            </a:r>
            <a:endParaRPr lang="en-US" sz="14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3337560"/>
          <a:ext cx="4389120" cy="204825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</a:rPr>
                        <a:t>Activity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</a:rPr>
                        <a:t>Mean PC1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</a:rPr>
                        <a:t>Mean PC2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LAYING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-14.56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2.13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SITTING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-14.23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STANDING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-13.63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-0.19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WALKING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15.82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1.24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WALKING_DOWNSTAIRS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23.32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2.13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WALKING_UPSTAIRS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12.65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02C"/>
                          </a:solidFill>
                        </a:rPr>
                        <a:t>-6.72</a:t>
                      </a:r>
                      <a:endParaRPr lang="en-US" sz="11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to the Question: Yes — With Clear Limits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EEF7F5"/>
          </a:solidFill>
          <a:ln w="1651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51560" y="1508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What PCA does well here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2029968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16152" y="192024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Compresses 561 features into a 2D picture that is easy to explain.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51560" y="2560320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16152" y="245059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Preserves the broad split between dynamic movement and posture-based activities.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051560" y="3090672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16152" y="298094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Shows that different walking styles are related, but not identical.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51560" y="3621024"/>
            <a:ext cx="73152" cy="73152"/>
          </a:xfrm>
          <a:prstGeom prst="ellipse">
            <a:avLst/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16152" y="3511296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Works well as an exploratory and communication tool.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55080" y="118872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DF3ED"/>
          </a:solidFill>
          <a:ln w="1651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294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What PCA does not solve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29400" y="2029968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793992" y="1920240"/>
            <a:ext cx="4270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Two PCs still leave out 43% of the variance.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629400" y="2560320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93992" y="2450592"/>
            <a:ext cx="4270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SITTING and STANDING overlap, so separation is not perfect.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629400" y="3090672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93992" y="2980944"/>
            <a:ext cx="4270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PCA is linear, so curved or more complex structure can be missed.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629400" y="3621024"/>
            <a:ext cx="73152" cy="73152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793992" y="3511296"/>
            <a:ext cx="4270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202C"/>
                </a:solidFill>
              </a:rPr>
              <a:t>PCA is not a classifier; it summarizes structure but does not assign labels by itself.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246120" y="5806440"/>
            <a:ext cx="5669280" cy="438912"/>
          </a:xfrm>
          <a:prstGeom prst="roundRect">
            <a:avLst>
              <a:gd name="adj" fmla="val 25000"/>
            </a:avLst>
          </a:prstGeom>
          <a:solidFill>
            <a:srgbClr val="1F4568"/>
          </a:solidFill>
          <a:ln>
            <a:solidFill>
              <a:srgbClr val="1F456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use case here: structure discovery and visualization, not final decision-making on its own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115568"/>
            <a:ext cx="10241280" cy="0"/>
          </a:xfrm>
          <a:prstGeom prst="line">
            <a:avLst/>
          </a:prstGeom>
          <a:noFill/>
          <a:ln w="15240">
            <a:solidFill>
              <a:srgbClr val="6C88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10287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118872" cy="960120"/>
          </a:xfrm>
          <a:prstGeom prst="roundRect">
            <a:avLst>
              <a:gd name="adj" fmla="val 61538"/>
            </a:avLst>
          </a:prstGeom>
          <a:solidFill>
            <a:srgbClr val="54B5A6"/>
          </a:solidFill>
          <a:ln w="12700">
            <a:solidFill>
              <a:srgbClr val="54B5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24712" y="1655064"/>
            <a:ext cx="9939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1. The dataset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24712" y="1984248"/>
            <a:ext cx="992124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UCI HAR converts short smartphone sensor windows into 561 engineered motion features.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10287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68680" y="2697480"/>
            <a:ext cx="118872" cy="960120"/>
          </a:xfrm>
          <a:prstGeom prst="roundRect">
            <a:avLst>
              <a:gd name="adj" fmla="val 61538"/>
            </a:avLst>
          </a:prstGeom>
          <a:solidFill>
            <a:srgbClr val="F08A4B"/>
          </a:solidFill>
          <a:ln w="12700">
            <a:solidFill>
              <a:srgbClr val="F08A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24712" y="2843784"/>
            <a:ext cx="9939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2. The method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24712" y="3172968"/>
            <a:ext cx="992124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Standardization + PCA turns that high-dimensional feature space into a much smaller coordinate system.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886200"/>
            <a:ext cx="10287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68680" y="3886200"/>
            <a:ext cx="118872" cy="960120"/>
          </a:xfrm>
          <a:prstGeom prst="roundRect">
            <a:avLst>
              <a:gd name="adj" fmla="val 61538"/>
            </a:avLst>
          </a:prstGeom>
          <a:solidFill>
            <a:srgbClr val="E6C84E"/>
          </a:solidFill>
          <a:ln w="12700">
            <a:solidFill>
              <a:srgbClr val="E6C8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24712" y="4032504"/>
            <a:ext cx="9939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3. The result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24712" y="4361688"/>
            <a:ext cx="992124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In 2D, PCA preserves a strong movement-versus-posture split and reveals meaningful activity structure.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074920"/>
            <a:ext cx="10287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7DDE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68680" y="5074920"/>
            <a:ext cx="118872" cy="960120"/>
          </a:xfrm>
          <a:prstGeom prst="roundRect">
            <a:avLst>
              <a:gd name="adj" fmla="val 61538"/>
            </a:avLst>
          </a:prstGeom>
          <a:solidFill>
            <a:srgbClr val="7BA7D9"/>
          </a:solidFill>
          <a:ln w="12700">
            <a:solidFill>
              <a:srgbClr val="7B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124712" y="5221224"/>
            <a:ext cx="9939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4. The lesson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24712" y="5550408"/>
            <a:ext cx="992124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7202C"/>
                </a:solidFill>
              </a:rPr>
              <a:t>PCA is excellent for visualization and intuition building, but finer separation still needs more dimensions or a predictive model.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12680" y="6309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E2F0"/>
                </a:solidFill>
              </a:rPr>
              <a:t>Questions?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11503152" y="6446520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Strongest Raw Feature Loadings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0" cy="0"/>
          </a:xfrm>
          <a:prstGeom prst="line">
            <a:avLst/>
          </a:prstGeom>
          <a:noFill/>
          <a:ln w="17780">
            <a:solidFill>
              <a:srgbClr val="D7DD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13232" y="10515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C"/>
                </a:solidFill>
              </a:rPr>
              <a:t>These raw feature names are not needed for the main story, but they are useful if you want to discuss exactly which engineered features influence PC1 and PC2 most strongly.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Top 10 loadings for PC1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72200" y="1664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Top 10 loadings for PC2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965960"/>
          <a:ext cx="4754880" cy="3721608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</a:rPr>
                        <a:t>|loading|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fBodyAcc-sma()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0.0586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fBodyAccJerk-sma()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0.0586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fBodyGyro-sma()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0.0586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tBodyAccJerk-sma()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0.0585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tBodyAccJerkMag-mean()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0.0585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tBodyAccJerkMag-sma()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0.0585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fBodyBodyAccJerkMag-mean()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0.0581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fBodyBodyAccJerkMag-sma()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0.0581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tBodyAccJerkMag-mad()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0.0580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tBodyAccJerkMag-std()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0.0580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1965960"/>
          <a:ext cx="4754880" cy="3721608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7324D"/>
                          </a:solidFill>
                        </a:rPr>
                        <a:t>|loading|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fBodyAcc-meanFreq()-Z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0.1244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tBodyGyroMag-arCoeff()1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0.1206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fBodyAccMag-meanFreq()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0.1197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tGravityAcc-arCoeff()-Z,1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0.1196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tBodyAccMag-arCoeff()1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0.1195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tGravityAccMag-arCoeff()1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0.1195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tGravityAcc-arCoeff()-Z,2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0.1193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tGravityAcc-arCoeff()-Z,3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0.1176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tGravityAcc-arCoeff()-Z,4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0.1144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tBodyGyroMag-arCoeff()2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202C"/>
                          </a:solidFill>
                        </a:rPr>
                        <a:t>0.1128</a:t>
                      </a:r>
                      <a:endParaRPr lang="en-US" sz="105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521440" y="653796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sz="1050" b="0">
                <a:solidFill>
                  <a:srgbClr val="6B7785"/>
                </a:solidFill>
                <a:latin typeface="Aptos"/>
              </a:rPr>
              <a:t>17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0080" y="649224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3A4"/>
                </a:solidFill>
              </a:rPr>
              <a:t>Appendix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2992</Words>
  <Application>Microsoft Office PowerPoint</Application>
  <PresentationFormat>Widescreen</PresentationFormat>
  <Paragraphs>369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Human Activity Patterns with PCA</dc:title>
  <dc:subject>PCA analysis of the UCI HAR dataset</dc:subject>
  <dc:creator>OpenAI</dc:creator>
  <cp:lastModifiedBy>Nimish Sood</cp:lastModifiedBy>
  <cp:revision>2</cp:revision>
  <dcterms:created xsi:type="dcterms:W3CDTF">2026-04-08T03:31:59Z</dcterms:created>
  <dcterms:modified xsi:type="dcterms:W3CDTF">2026-04-08T04:58:54Z</dcterms:modified>
</cp:coreProperties>
</file>