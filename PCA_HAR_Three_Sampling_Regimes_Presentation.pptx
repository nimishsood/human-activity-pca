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120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human_activity_pca_high_dimensional_comparison.ipynb
- All values, conclusions, and adapted figures in this slide were taken from or derived directly from the notebook outputs.
- Title framing adapted from notebook Sections 1, 2, 10, and 11.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human_activity_pca_high_dimensional_comparison.ipynb
- All values, conclusions, and adapted figures in this slide were taken from or derived directly from the notebook outputs.
- Motivation adapted from notebook Sections 1 and 11.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human_activity_pca_high_dimensional_comparison.ipynb
- All values, conclusions, and adapted figures in this slide were taken from or derived directly from the notebook outputs.
- Dataset facts adapted from notebook Section 2 and dataset checks table.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human_activity_pca_high_dimensional_comparison.ipynb
- All values, conclusions, and adapted figures in this slide were taken from or derived directly from the notebook outputs.
- PCA explanation adapted from notebook Sections 4 and 5.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human_activity_pca_high_dimensional_comparison.ipynb
- All values, conclusions, and adapted figures in this slide were taken from or derived directly from the notebook outputs.
- Dimensionality and rank-limit facts adapted from notebook Sections 5, 10, and 11.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human_activity_pca_high_dimensional_comparison.ipynb
- All values, conclusions, and adapted figures in this slide were taken from or derived directly from the notebook outputs.
- Scenario definitions adapted from notebook Section 2 and dataset summary tables.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human_activity_pca_high_dimensional_comparison.ipynb
- All values, conclusions, and adapted figures in this slide were taken from or derived directly from the notebook outputs.
- Representativeness warning adapted from notebook Section 3 and subject coverage outputs.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human_activity_pca_high_dimensional_comparison.ipynb
- All values, conclusions, and adapted figures in this slide were taken from or derived directly from the notebook outputs.
- Subject concentration and activity composition adapted from notebook Section 3 tables.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human_activity_pca_high_dimensional_comparison.ipynb
- All values, conclusions, and adapted figures in this slide were taken from or derived directly from the notebook outputs.
- Variance values adapted from notebook Section 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human_activity_pca_high_dimensional_comparison.ipynb
- All values, conclusions, and adapted figures in this slide were taken from or derived directly from the notebook outputs.
- Scatter plot figure reused from notebook Section 7.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human_activity_pca_high_dimensional_comparison.ipynb
- All values, conclusions, and adapted figures in this slide were taken from or derived directly from the notebook outputs.
- Interpretation adapted from notebook Sections 7, 9, 10, and 11.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human_activity_pca_high_dimensional_comparison.ipynb
- All values, conclusions, and adapted figures in this slide were taken from or derived directly from the notebook outputs.
- Quantitative metrics adapted from notebook Sections 7 and 9.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human_activity_pca_high_dimensional_comparison.ipynb
- All values, conclusions, and adapted figures in this slide were taken from or derived directly from the notebook outputs.
- Takeaways adapted from notebook Sections 10 and 11.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human_activity_pca_high_dimensional_comparison.ipynb
- All values, conclusions, and adapted figures in this slide were taken from or derived directly from the notebook outputs.
- Limitations adapted from notebook Section 11 and the notebook framing overall.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human_activity_pca_high_dimensional_comparison.ipynb
- All values, conclusions, and adapted figures in this slide were taken from or derived directly from the notebook outputs.
- Final conclusion adapted from notebook Sections 10 and 11.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818120" y="822960"/>
            <a:ext cx="0" cy="539496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PCA Across Three Sampling Regimes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 the UCI HAR Dataset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214884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26070"/>
                </a:solidFill>
              </a:rPr>
              <a:t>Comparing a full n &gt; p setting with two 500-row p &gt; n subsets - and showing why sampling strategy matters as much as dimensionality.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04672" y="306324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04672" y="30906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 dataset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87168" y="3063240"/>
            <a:ext cx="1664208" cy="310896"/>
          </a:xfrm>
          <a:prstGeom prst="roundRect">
            <a:avLst>
              <a:gd name="adj" fmla="val 23529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87168" y="309067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First 500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9392" y="306324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79392" y="30906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 500 rows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37947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UCI Human Activity Recognition (HAR)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10,299 rows × 561 features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6 activities, 30 subjects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4672" y="5989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12480" y="914400"/>
            <a:ext cx="3017520" cy="1078992"/>
          </a:xfrm>
          <a:prstGeom prst="roundRect">
            <a:avLst>
              <a:gd name="adj" fmla="val 6780"/>
            </a:avLst>
          </a:prstGeom>
          <a:solidFill>
            <a:srgbClr val="EAF2FB"/>
          </a:solidFill>
          <a:ln w="12700">
            <a:solidFill>
              <a:srgbClr val="1F4E79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412480" y="914400"/>
            <a:ext cx="146304" cy="10789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68512" y="10607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Full dataset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68512" y="133502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10,299 × 561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n &gt; 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Reference baseline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0" y="2468880"/>
            <a:ext cx="3017520" cy="1078992"/>
          </a:xfrm>
          <a:prstGeom prst="roundRect">
            <a:avLst>
              <a:gd name="adj" fmla="val 6780"/>
            </a:avLst>
          </a:prstGeom>
          <a:solidFill>
            <a:srgbClr val="FFF4E8"/>
          </a:solidFill>
          <a:ln w="12700">
            <a:solidFill>
              <a:srgbClr val="D97706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412480" y="2468880"/>
            <a:ext cx="146304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668512" y="2615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First 500 rows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68512" y="288950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500 × 561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p &gt; 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Only 2 subjects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412480" y="4023360"/>
            <a:ext cx="3017520" cy="1078992"/>
          </a:xfrm>
          <a:prstGeom prst="roundRect">
            <a:avLst>
              <a:gd name="adj" fmla="val 6780"/>
            </a:avLst>
          </a:prstGeom>
          <a:solidFill>
            <a:srgbClr val="E8F6F3"/>
          </a:solidFill>
          <a:ln w="12700">
            <a:solidFill>
              <a:srgbClr val="0F766E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412480" y="4023360"/>
            <a:ext cx="146304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668512" y="41696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Random 500 rows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68512" y="444398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500 × 561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p &gt; 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30 subjects covered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75320" y="5486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B63"/>
                </a:solidFill>
              </a:rPr>
              <a:t>Core question: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75320" y="5742432"/>
            <a:ext cx="3275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F2937"/>
                </a:solidFill>
              </a:rPr>
              <a:t>If PCA changes, is it because of p &gt; n - or because the sample itself is biased?</a:t>
            </a:r>
            <a:endParaRPr lang="en-US" sz="1430" dirty="0"/>
          </a:p>
        </p:txBody>
      </p:sp>
      <p:sp>
        <p:nvSpPr>
          <p:cNvPr id="29" name="Text 26"/>
          <p:cNvSpPr/>
          <p:nvPr/>
        </p:nvSpPr>
        <p:spPr>
          <a:xfrm>
            <a:off x="114757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3291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comparison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6070"/>
                </a:solidFill>
              </a:rPr>
              <a:t>PCA is not just about the algorithm; it is also about the data you feed into it.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978408"/>
            <a:ext cx="107899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85800" y="1298448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FAFCFE"/>
          </a:solidFill>
          <a:ln w="12700">
            <a:solidFill>
              <a:srgbClr val="D7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457200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HAR data has many features, so direct visualization is hard.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PCA reduces many correlated variables into a smaller set of components.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We often look at PC1 and PC2 to get a 2D picture of high-dimensional structure.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But PCA results can change when the sample size changes and when the subset is not representative.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983480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EAF2FB"/>
          </a:solidFill>
          <a:ln w="12700">
            <a:solidFill>
              <a:srgbClr val="173B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51560" y="51480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3"/>
                </a:solidFill>
              </a:rPr>
              <a:t>We are asking: how much of the PCA story is dimensionality, and how much is sampling?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90488" y="1298448"/>
            <a:ext cx="5285232" cy="4526280"/>
          </a:xfrm>
          <a:prstGeom prst="roundRect">
            <a:avLst>
              <a:gd name="adj" fmla="val 1616"/>
            </a:avLst>
          </a:prstGeom>
          <a:solidFill>
            <a:srgbClr val="FBFCFD"/>
          </a:solidFill>
          <a:ln w="12700">
            <a:solidFill>
              <a:srgbClr val="D7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583680" y="1828800"/>
            <a:ext cx="1298448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 w="12700">
            <a:solidFill>
              <a:srgbClr val="1F4E79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693408" y="199339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26070"/>
                </a:solidFill>
              </a:rPr>
              <a:t>Same algorithm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31343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PCA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73568" y="2231136"/>
            <a:ext cx="256032" cy="310896"/>
          </a:xfrm>
          <a:prstGeom prst="chevron">
            <a:avLst/>
          </a:prstGeom>
          <a:solidFill>
            <a:srgbClr val="DDE5EF"/>
          </a:solidFill>
          <a:ln w="12700">
            <a:solidFill>
              <a:srgbClr val="B8C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1298448" cy="1234440"/>
          </a:xfrm>
          <a:prstGeom prst="roundRect">
            <a:avLst>
              <a:gd name="adj" fmla="val 5926"/>
            </a:avLst>
          </a:prstGeom>
          <a:solidFill>
            <a:srgbClr val="FFF4E8"/>
          </a:solidFill>
          <a:ln w="12700">
            <a:solidFill>
              <a:srgbClr val="D97706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39328" y="199339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26070"/>
                </a:solidFill>
              </a:rPr>
              <a:t>Different data shape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231343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</a:rPr>
              <a:t>n &gt; p vs p &gt; 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619488" y="2231136"/>
            <a:ext cx="256032" cy="310896"/>
          </a:xfrm>
          <a:prstGeom prst="chevron">
            <a:avLst/>
          </a:prstGeom>
          <a:solidFill>
            <a:srgbClr val="DDE5EF"/>
          </a:solidFill>
          <a:ln w="12700">
            <a:solidFill>
              <a:srgbClr val="B8C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875520" y="1828800"/>
            <a:ext cx="1298448" cy="1234440"/>
          </a:xfrm>
          <a:prstGeom prst="roundRect">
            <a:avLst>
              <a:gd name="adj" fmla="val 5926"/>
            </a:avLst>
          </a:prstGeom>
          <a:solidFill>
            <a:srgbClr val="E8F6F3"/>
          </a:solidFill>
          <a:ln w="12700">
            <a:solidFill>
              <a:srgbClr val="0F766E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985248" y="1874520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26070"/>
                </a:solidFill>
              </a:rPr>
              <a:t>Different coverage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66960" y="231343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</a:rPr>
              <a:t>biased vs broader sample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37960" y="3703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399592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14757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3291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6070"/>
                </a:solidFill>
              </a:rPr>
              <a:t>UCI Human Activity Recognition using Smartphones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978408"/>
            <a:ext cx="107899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" y="1325880"/>
            <a:ext cx="3063240" cy="4526280"/>
          </a:xfrm>
          <a:prstGeom prst="roundRect">
            <a:avLst>
              <a:gd name="adj" fmla="val 2388"/>
            </a:avLst>
          </a:prstGeom>
          <a:solidFill>
            <a:srgbClr val="FAFCFE"/>
          </a:solidFill>
          <a:ln w="12700">
            <a:solidFill>
              <a:srgbClr val="D7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166420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3"/>
                </a:solidFill>
              </a:rPr>
              <a:t>Rows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10512" y="16459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10,299 observation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windows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26060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60120" y="260604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3"/>
                </a:solidFill>
              </a:rPr>
              <a:t>Features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10512" y="258775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561 engineered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numeric signals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14400" y="2999232"/>
            <a:ext cx="26060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0120" y="35478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3"/>
                </a:solidFill>
              </a:rPr>
              <a:t>Labels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10512" y="352958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6 activities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14400" y="3941064"/>
            <a:ext cx="26060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60120" y="448970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3"/>
                </a:solidFill>
              </a:rPr>
              <a:t>Subjects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10512" y="447141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30 volunteers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60120" y="521208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26070"/>
                </a:solidFill>
              </a:rPr>
              <a:t>Activities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719072" y="5102352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</a:rPr>
              <a:t>Walking, Walking Upstairs,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</a:rPr>
              <a:t>Walking Downstairs,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</a:rPr>
              <a:t>Sitting, Standing, Laying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069080" y="1325880"/>
            <a:ext cx="7315200" cy="4526280"/>
          </a:xfrm>
          <a:prstGeom prst="roundRect">
            <a:avLst>
              <a:gd name="adj" fmla="val 1616"/>
            </a:avLst>
          </a:prstGeom>
          <a:solidFill>
            <a:srgbClr val="FCFDFE"/>
          </a:solidFill>
          <a:ln w="12700">
            <a:solidFill>
              <a:srgbClr val="D7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480560" y="210312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EAF2FB"/>
          </a:solidFill>
          <a:ln w="12700">
            <a:solidFill>
              <a:srgbClr val="1F4E79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99432" y="24871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</a:rPr>
              <a:t>Sensor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</a:rPr>
              <a:t>window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0" y="196596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EFF3F7"/>
          </a:solidFill>
          <a:ln w="12700">
            <a:solidFill>
              <a:srgbClr val="C4CFDC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629400" y="22311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Feature engineering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65392" y="26151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26070"/>
                </a:solidFill>
              </a:rPr>
              <a:t>Time-domain + frequency-domain summaries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39712" y="29809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B63"/>
                </a:solidFill>
              </a:rPr>
              <a:t>561 features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464040" y="201168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E8F6F3"/>
          </a:solidFill>
          <a:ln w="12700">
            <a:solidFill>
              <a:srgbClr val="0F766E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582912" y="221284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</a:rPr>
              <a:t>Activity label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464040" y="283464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FFF4E8"/>
          </a:solidFill>
          <a:ln w="12700">
            <a:solidFill>
              <a:srgbClr val="D97706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646920" y="30358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</a:rPr>
              <a:t>Subject ID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989320" y="2542032"/>
            <a:ext cx="256032" cy="310896"/>
          </a:xfrm>
          <a:prstGeom prst="chevron">
            <a:avLst/>
          </a:prstGeom>
          <a:solidFill>
            <a:srgbClr val="DDE5EF"/>
          </a:solidFill>
          <a:ln w="12700">
            <a:solidFill>
              <a:srgbClr val="B8C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070848" y="2212848"/>
            <a:ext cx="256032" cy="310896"/>
          </a:xfrm>
          <a:prstGeom prst="chevron">
            <a:avLst/>
          </a:prstGeom>
          <a:solidFill>
            <a:srgbClr val="DDE5EF"/>
          </a:solidFill>
          <a:ln w="12700">
            <a:solidFill>
              <a:srgbClr val="B8C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070848" y="3035808"/>
            <a:ext cx="256032" cy="310896"/>
          </a:xfrm>
          <a:prstGeom prst="chevron">
            <a:avLst/>
          </a:prstGeom>
          <a:solidFill>
            <a:srgbClr val="DDE5EF"/>
          </a:solidFill>
          <a:ln w="12700">
            <a:solidFill>
              <a:srgbClr val="B8C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526280" y="4800600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Each row is one window of phone-sensor data, summarized into 561 numbers.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114757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3291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refresher: what PCA does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6070"/>
                </a:solidFill>
              </a:rPr>
              <a:t>Keep the intuition simple: PCA finds the strongest patterns of variation.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978408"/>
            <a:ext cx="107899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" y="128016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BFCFE"/>
          </a:solidFill>
          <a:ln w="12700">
            <a:solidFill>
              <a:srgbClr val="D7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51560" y="1920240"/>
            <a:ext cx="1645920" cy="2377440"/>
          </a:xfrm>
          <a:prstGeom prst="roundRect">
            <a:avLst>
              <a:gd name="adj" fmla="val 4444"/>
            </a:avLst>
          </a:prstGeom>
          <a:solidFill>
            <a:srgbClr val="EFF3F7"/>
          </a:solidFill>
          <a:ln w="12700">
            <a:solidFill>
              <a:srgbClr val="CBD5E1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12808" y="2560320"/>
            <a:ext cx="155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</a:rPr>
              <a:t>Many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</a:rPr>
              <a:t>correlated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</a:rPr>
              <a:t>features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31296" y="2743200"/>
            <a:ext cx="386808" cy="502920"/>
          </a:xfrm>
          <a:prstGeom prst="chevron">
            <a:avLst/>
          </a:prstGeom>
          <a:solidFill>
            <a:srgbClr val="DDE5EF"/>
          </a:solidFill>
          <a:ln w="12700">
            <a:solidFill>
              <a:srgbClr val="B8C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27832" y="2555748"/>
            <a:ext cx="1143000" cy="1051560"/>
          </a:xfrm>
          <a:prstGeom prst="roundRect">
            <a:avLst>
              <a:gd name="adj" fmla="val 5161"/>
            </a:avLst>
          </a:prstGeom>
          <a:solidFill>
            <a:srgbClr val="EAF2FB"/>
          </a:solidFill>
          <a:ln w="12700">
            <a:solidFill>
              <a:srgbClr val="1F4E79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871216" y="2880360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</a:rPr>
              <a:t>PCA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80560" y="2770632"/>
            <a:ext cx="420624" cy="502920"/>
          </a:xfrm>
          <a:prstGeom prst="chevron">
            <a:avLst/>
          </a:prstGeom>
          <a:solidFill>
            <a:srgbClr val="DDE5EF"/>
          </a:solidFill>
          <a:ln w="12700">
            <a:solidFill>
              <a:srgbClr val="B8C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138928" y="1783080"/>
            <a:ext cx="914400" cy="786384"/>
          </a:xfrm>
          <a:prstGeom prst="roundRect">
            <a:avLst>
              <a:gd name="adj" fmla="val 9302"/>
            </a:avLst>
          </a:prstGeom>
          <a:solidFill>
            <a:srgbClr val="E8F6F3"/>
          </a:solidFill>
          <a:ln w="12700">
            <a:solidFill>
              <a:srgbClr val="0F766E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321808" y="200253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</a:rPr>
              <a:t>PC1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57800" y="2221992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</a:rPr>
              <a:t>most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</a:rPr>
              <a:t>variance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38928" y="3273552"/>
            <a:ext cx="914400" cy="786384"/>
          </a:xfrm>
          <a:prstGeom prst="roundRect">
            <a:avLst>
              <a:gd name="adj" fmla="val 9302"/>
            </a:avLst>
          </a:prstGeom>
          <a:solidFill>
            <a:srgbClr val="FFF4E8"/>
          </a:solidFill>
          <a:ln w="12700">
            <a:solidFill>
              <a:srgbClr val="D97706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21808" y="348386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PC2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66944" y="37033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7706"/>
                </a:solidFill>
              </a:rPr>
              <a:t>next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D97706"/>
                </a:solidFill>
              </a:rPr>
              <a:t>variance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1307592"/>
            <a:ext cx="4983480" cy="4572000"/>
          </a:xfrm>
          <a:prstGeom prst="roundRect">
            <a:avLst>
              <a:gd name="adj" fmla="val 1600"/>
            </a:avLst>
          </a:prstGeom>
          <a:solidFill>
            <a:srgbClr val="FBFCFE"/>
          </a:solidFill>
          <a:ln w="12700">
            <a:solidFill>
              <a:srgbClr val="D7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693408" y="1783080"/>
            <a:ext cx="429768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PCA rotates the feature space into new orthogonal directions called principal components.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PC1 captures the largest remaining variance; PC2 captures the next largest, and so 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Using only the first 2 PCs gives a simplified view of a much larger feature space.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50749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114757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3291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high-dimensional means here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6070"/>
                </a:solidFill>
              </a:rPr>
              <a:t>The key comparison is between n &gt; p and p &gt; 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978408"/>
            <a:ext cx="107899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EAF2FB"/>
          </a:solidFill>
          <a:ln w="12700">
            <a:solidFill>
              <a:srgbClr val="1F4E79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108192" y="141732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4E8"/>
          </a:solidFill>
          <a:ln w="12700">
            <a:solidFill>
              <a:srgbClr val="D97706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51560" y="17830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Full dataset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029968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</a:rPr>
              <a:t>n = 10,299 rows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</a:rPr>
              <a:t>p = 561 features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</a:rPr>
              <a:t>So n &gt; 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51560" y="36118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PCA can use the full 561-dimensional feature space after standardization.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4416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Non-zero PC cap: 561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1783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</a:rPr>
              <a:t>500-row subsets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029968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</a:rPr>
              <a:t>n = 500 rows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</a:rPr>
              <a:t>p = 561 features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</a:rPr>
              <a:t>So p &gt; 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00800" y="36118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After centering, PCA can have at most min(n − 1, p) = 499 non-zero PCs.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44165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Forced zero directions: 62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2688" y="5650992"/>
            <a:ext cx="10149840" cy="566928"/>
          </a:xfrm>
          <a:prstGeom prst="roundRect">
            <a:avLst>
              <a:gd name="adj" fmla="val 9677"/>
            </a:avLst>
          </a:prstGeom>
          <a:solidFill>
            <a:srgbClr val="F7FAFD"/>
          </a:solidFill>
          <a:ln w="12700">
            <a:solidFill>
              <a:srgbClr val="C9D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170432" y="5843016"/>
            <a:ext cx="9646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173B63"/>
                </a:solidFill>
              </a:rPr>
              <a:t>Why this matters: both 500-row subsets share the same mathematical rank limit, so if their PCA results differ, dimensionality alone cannot explain the difference.</a:t>
            </a:r>
            <a:endParaRPr lang="en-US" sz="1460" dirty="0"/>
          </a:p>
        </p:txBody>
      </p:sp>
      <p:sp>
        <p:nvSpPr>
          <p:cNvPr id="19" name="Text 16"/>
          <p:cNvSpPr/>
          <p:nvPr/>
        </p:nvSpPr>
        <p:spPr>
          <a:xfrm>
            <a:off x="114757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3291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setup: the three scenarios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6070"/>
                </a:solidFill>
              </a:rPr>
              <a:t>Same dataset family, same preprocessing logic, different sample definitions.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978408"/>
            <a:ext cx="107899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880360" cy="4526280"/>
          </a:xfrm>
          <a:prstGeom prst="roundRect">
            <a:avLst>
              <a:gd name="adj" fmla="val 2540"/>
            </a:avLst>
          </a:prstGeom>
          <a:solidFill>
            <a:srgbClr val="EAF2FB"/>
          </a:solidFill>
          <a:ln w="12700">
            <a:solidFill>
              <a:srgbClr val="1F4E79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1673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</a:rPr>
              <a:t>1. Full dataset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2937"/>
                </a:solidFill>
              </a:rPr>
              <a:t>10,299 × 561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F2937"/>
                </a:solidFill>
              </a:rPr>
              <a:t>n &gt; p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987552" y="2880360"/>
            <a:ext cx="2331720" cy="0"/>
          </a:xfrm>
          <a:prstGeom prst="line">
            <a:avLst/>
          </a:prstGeom>
          <a:noFill/>
          <a:ln w="12700">
            <a:solidFill>
              <a:srgbClr val="C9D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87552" y="30632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26070"/>
                </a:solidFill>
              </a:rPr>
              <a:t>Selection rule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24128" y="331012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All rows from merged train + test HAR table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87552" y="4133088"/>
            <a:ext cx="2331720" cy="0"/>
          </a:xfrm>
          <a:prstGeom prst="line">
            <a:avLst/>
          </a:prstGeom>
          <a:noFill/>
          <a:ln w="12700">
            <a:solidFill>
              <a:srgbClr val="C9D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24128" y="437083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</a:rPr>
              <a:t>30 subjects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</a:rPr>
              <a:t>train + test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</a:rPr>
              <a:t>reference baseline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0" y="1417320"/>
            <a:ext cx="2880360" cy="4526280"/>
          </a:xfrm>
          <a:prstGeom prst="roundRect">
            <a:avLst>
              <a:gd name="adj" fmla="val 2540"/>
            </a:avLst>
          </a:prstGeom>
          <a:solidFill>
            <a:srgbClr val="FFF4E8"/>
          </a:solidFill>
          <a:ln w="12700">
            <a:solidFill>
              <a:srgbClr val="D97706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43400" y="1673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2. First 500 rows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70832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2937"/>
                </a:solidFill>
              </a:rPr>
              <a:t>500 × 561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F2937"/>
                </a:solidFill>
              </a:rPr>
              <a:t>p &gt; n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4370832" y="2880360"/>
            <a:ext cx="2331720" cy="0"/>
          </a:xfrm>
          <a:prstGeom prst="line">
            <a:avLst/>
          </a:prstGeom>
          <a:noFill/>
          <a:ln w="12700">
            <a:solidFill>
              <a:srgbClr val="C9D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370832" y="30632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26070"/>
                </a:solidFill>
              </a:rPr>
              <a:t>Selection rule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407408" y="331012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Take the first 500 rows in row order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70832" y="4133088"/>
            <a:ext cx="2331720" cy="0"/>
          </a:xfrm>
          <a:prstGeom prst="line">
            <a:avLst/>
          </a:prstGeom>
          <a:noFill/>
          <a:ln w="12700">
            <a:solidFill>
              <a:srgbClr val="C9D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407408" y="437083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2 subjects only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train only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order-dependent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498080" y="1417320"/>
            <a:ext cx="2880360" cy="4526280"/>
          </a:xfrm>
          <a:prstGeom prst="roundRect">
            <a:avLst>
              <a:gd name="adj" fmla="val 2540"/>
            </a:avLst>
          </a:prstGeom>
          <a:solidFill>
            <a:srgbClr val="E8F6F3"/>
          </a:solidFill>
          <a:ln w="12700">
            <a:solidFill>
              <a:srgbClr val="0F766E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26680" y="1673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</a:rPr>
              <a:t>3. Random 500 rows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54112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2937"/>
                </a:solidFill>
              </a:rPr>
              <a:t>500 × 561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F2937"/>
                </a:solidFill>
              </a:rPr>
              <a:t>p &gt; n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7754112" y="2880360"/>
            <a:ext cx="2331720" cy="0"/>
          </a:xfrm>
          <a:prstGeom prst="line">
            <a:avLst/>
          </a:prstGeom>
          <a:noFill/>
          <a:ln w="12700">
            <a:solidFill>
              <a:srgbClr val="C9D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754112" y="30632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26070"/>
                </a:solidFill>
              </a:rPr>
              <a:t>Selection rule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90688" y="331012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Random 500-row sample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(random_state = 42)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54112" y="4133088"/>
            <a:ext cx="2331720" cy="0"/>
          </a:xfrm>
          <a:prstGeom prst="line">
            <a:avLst/>
          </a:prstGeom>
          <a:noFill/>
          <a:ln w="12700">
            <a:solidFill>
              <a:srgbClr val="C9D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790688" y="437083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30 subjects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352 train + 148 test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broader coverage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" y="614476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B63"/>
                </a:solidFill>
              </a:rPr>
              <a:t>The critical comparison is not just “full vs small”; it is “small but biased” vs “small but more representative.”</a:t>
            </a:r>
            <a:endParaRPr lang="en-US" sz="1550" dirty="0"/>
          </a:p>
        </p:txBody>
      </p:sp>
      <p:sp>
        <p:nvSpPr>
          <p:cNvPr id="32" name="Text 29"/>
          <p:cNvSpPr/>
          <p:nvPr/>
        </p:nvSpPr>
        <p:spPr>
          <a:xfrm>
            <a:off x="114757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3291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“first 500 rows” subset is risky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6070"/>
                </a:solidFill>
              </a:rPr>
              <a:t>It is a real p &gt; n example - but not a neutral one.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978408"/>
            <a:ext cx="107899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931920" cy="4800600"/>
          </a:xfrm>
          <a:prstGeom prst="roundRect">
            <a:avLst>
              <a:gd name="adj" fmla="val 1860"/>
            </a:avLst>
          </a:prstGeom>
          <a:solidFill>
            <a:srgbClr val="FCFDFE"/>
          </a:solidFill>
          <a:ln w="12700">
            <a:solidFill>
              <a:srgbClr val="D7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1630392"/>
            <a:ext cx="3383280" cy="3462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The first 500 rows are selected by row order, not by representativeness.</a:t>
            </a:r>
            <a:endParaRPr lang="en-US" sz="1750" dirty="0"/>
          </a:p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They contain only 2 subjects, while the random 500-row sample covers all 30 subjects.</a:t>
            </a:r>
            <a:endParaRPr lang="en-US" sz="1750" dirty="0"/>
          </a:p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One subject contributes 69.4% of the first-500 subset.</a:t>
            </a:r>
            <a:endParaRPr lang="en-US" sz="1750" dirty="0"/>
          </a:p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The top two subjects together account for 100.0% of that subset.</a:t>
            </a:r>
            <a:endParaRPr lang="en-US" sz="1750" dirty="0"/>
          </a:p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So differences from the full dataset are partly about narrow subject coverage - not just about p &gt; n.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932688" y="5349240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32688" y="537667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 subjects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49424" y="5349240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49424" y="537667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69.4% one subject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30752" y="5349240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730752" y="537667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100% top two</a:t>
            </a:r>
            <a:endParaRPr lang="en-US" sz="1100" dirty="0"/>
          </a:p>
        </p:txBody>
      </p:sp>
      <p:pic>
        <p:nvPicPr>
          <p:cNvPr id="14" name="Image 0" descr="/mnt/data/ppt_assets/subject_coverage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329136"/>
            <a:ext cx="6629400" cy="25699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102352" y="614476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26070"/>
                </a:solidFill>
              </a:rPr>
              <a:t>Subject concentration is the warning sign: the first 500 rows are dominated by just two people, while the random 500 rows are spread across many subjects.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114757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3291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Subject and activity composition across scenarios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6070"/>
                </a:solidFill>
              </a:rPr>
              <a:t>This slide separates subject coverage from activity balance.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978408"/>
            <a:ext cx="107899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325880"/>
            <a:ext cx="4983480" cy="4800600"/>
          </a:xfrm>
          <a:prstGeom prst="roundRect">
            <a:avLst>
              <a:gd name="adj" fmla="val 1524"/>
            </a:avLst>
          </a:prstGeom>
          <a:solidFill>
            <a:srgbClr val="FCFDFE"/>
          </a:solidFill>
          <a:ln w="12700">
            <a:solidFill>
              <a:srgbClr val="D7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87552" y="16276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63"/>
                </a:solidFill>
              </a:rPr>
              <a:t>Subject composition summary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32688" y="1993392"/>
            <a:ext cx="1463040" cy="502920"/>
          </a:xfrm>
          <a:prstGeom prst="rect">
            <a:avLst/>
          </a:prstGeom>
          <a:solidFill>
            <a:srgbClr val="EEF4FA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50976" y="214884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B63"/>
                </a:solidFill>
              </a:rPr>
              <a:t>Metric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95728" y="1993392"/>
            <a:ext cx="1005840" cy="502920"/>
          </a:xfrm>
          <a:prstGeom prst="rect">
            <a:avLst/>
          </a:prstGeom>
          <a:solidFill>
            <a:srgbClr val="F7FAFD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14016" y="2148840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B63"/>
                </a:solidFill>
              </a:rPr>
              <a:t>Full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01568" y="1993392"/>
            <a:ext cx="1051560" cy="502920"/>
          </a:xfrm>
          <a:prstGeom prst="rect">
            <a:avLst/>
          </a:prstGeom>
          <a:solidFill>
            <a:srgbClr val="F7FAFD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19856" y="2148840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B63"/>
                </a:solidFill>
              </a:rPr>
              <a:t>First 500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53128" y="1993392"/>
            <a:ext cx="1051560" cy="502920"/>
          </a:xfrm>
          <a:prstGeom prst="rect">
            <a:avLst/>
          </a:prstGeom>
          <a:solidFill>
            <a:srgbClr val="F7FAFD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471416" y="2148840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B63"/>
                </a:solidFill>
              </a:rPr>
              <a:t>Random 500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2688" y="2496312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0120" y="2642616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937"/>
                </a:solidFill>
              </a:rPr>
              <a:t>Unique subjects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95728" y="2496312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423160" y="264261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30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01568" y="2496312"/>
            <a:ext cx="1051560" cy="502920"/>
          </a:xfrm>
          <a:prstGeom prst="rect">
            <a:avLst/>
          </a:prstGeom>
          <a:solidFill>
            <a:srgbClr val="FFF5EA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29000" y="264261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7706"/>
                </a:solidFill>
              </a:rPr>
              <a:t>2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53128" y="2496312"/>
            <a:ext cx="1051560" cy="502920"/>
          </a:xfrm>
          <a:prstGeom prst="rect">
            <a:avLst/>
          </a:prstGeom>
          <a:solidFill>
            <a:srgbClr val="ECF8F5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480560" y="264261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766E"/>
                </a:solidFill>
              </a:rPr>
              <a:t>30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32688" y="2999232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60120" y="3145536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937"/>
                </a:solidFill>
              </a:rPr>
              <a:t>Dominant subject share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395728" y="2999232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423160" y="31455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4.0%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401568" y="2999232"/>
            <a:ext cx="1051560" cy="502920"/>
          </a:xfrm>
          <a:prstGeom prst="rect">
            <a:avLst/>
          </a:prstGeom>
          <a:solidFill>
            <a:srgbClr val="FFF5EA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29000" y="314553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7706"/>
                </a:solidFill>
              </a:rPr>
              <a:t>69.4%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453128" y="2999232"/>
            <a:ext cx="1051560" cy="502920"/>
          </a:xfrm>
          <a:prstGeom prst="rect">
            <a:avLst/>
          </a:prstGeom>
          <a:solidFill>
            <a:srgbClr val="ECF8F5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480560" y="314553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766E"/>
                </a:solidFill>
              </a:rPr>
              <a:t>5.8%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32688" y="3502152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60120" y="3648456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937"/>
                </a:solidFill>
              </a:rPr>
              <a:t>Top-two subject share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395728" y="3502152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423160" y="364845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7.9%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401568" y="3502152"/>
            <a:ext cx="1051560" cy="502920"/>
          </a:xfrm>
          <a:prstGeom prst="rect">
            <a:avLst/>
          </a:prstGeom>
          <a:solidFill>
            <a:srgbClr val="FFF5EA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429000" y="364845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7706"/>
                </a:solidFill>
              </a:rPr>
              <a:t>100.0%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453128" y="3502152"/>
            <a:ext cx="1051560" cy="502920"/>
          </a:xfrm>
          <a:prstGeom prst="rect">
            <a:avLst/>
          </a:prstGeom>
          <a:solidFill>
            <a:srgbClr val="ECF8F5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480560" y="364845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766E"/>
                </a:solidFill>
              </a:rPr>
              <a:t>11.0%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932688" y="4005072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960120" y="4151376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937"/>
                </a:solidFill>
              </a:rPr>
              <a:t>Train / test rows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2395728" y="4005072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423160" y="415137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7352 / 2947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3401568" y="4005072"/>
            <a:ext cx="1051560" cy="502920"/>
          </a:xfrm>
          <a:prstGeom prst="rect">
            <a:avLst/>
          </a:prstGeom>
          <a:solidFill>
            <a:srgbClr val="FFF5EA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429000" y="415137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97706"/>
                </a:solidFill>
              </a:rPr>
              <a:t>500 / 0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453128" y="4005072"/>
            <a:ext cx="1051560" cy="502920"/>
          </a:xfrm>
          <a:prstGeom prst="rect">
            <a:avLst/>
          </a:prstGeom>
          <a:solidFill>
            <a:srgbClr val="ECF8F5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480560" y="415137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</a:rPr>
              <a:t>352 / 148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932688" y="4507992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960120" y="4654296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937"/>
                </a:solidFill>
              </a:rPr>
              <a:t>Activity classes present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2395728" y="4507992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423160" y="465429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6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3401568" y="4507992"/>
            <a:ext cx="1051560" cy="502920"/>
          </a:xfrm>
          <a:prstGeom prst="rect">
            <a:avLst/>
          </a:prstGeom>
          <a:solidFill>
            <a:srgbClr val="FFF5EA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429000" y="465429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97706"/>
                </a:solidFill>
              </a:rPr>
              <a:t>6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4453128" y="4507992"/>
            <a:ext cx="1051560" cy="502920"/>
          </a:xfrm>
          <a:prstGeom prst="rect">
            <a:avLst/>
          </a:prstGeom>
          <a:solidFill>
            <a:srgbClr val="ECF8F5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480560" y="465429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</a:rPr>
              <a:t>6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960120" y="5166360"/>
            <a:ext cx="4526280" cy="640080"/>
          </a:xfrm>
          <a:prstGeom prst="roundRect">
            <a:avLst>
              <a:gd name="adj" fmla="val 8571"/>
            </a:avLst>
          </a:prstGeom>
          <a:solidFill>
            <a:srgbClr val="FFF4E8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1115568" y="5376672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B45309"/>
                </a:solidFill>
              </a:rPr>
              <a:t>The big distortion is subject coverage, not the number of activity classes: all three scenarios still contain all 6 activities.</a:t>
            </a:r>
            <a:endParaRPr lang="en-US" sz="1420" dirty="0"/>
          </a:p>
        </p:txBody>
      </p:sp>
      <p:sp>
        <p:nvSpPr>
          <p:cNvPr id="58" name="Shape 56"/>
          <p:cNvSpPr/>
          <p:nvPr/>
        </p:nvSpPr>
        <p:spPr>
          <a:xfrm>
            <a:off x="5989320" y="1325880"/>
            <a:ext cx="5486400" cy="4800600"/>
          </a:xfrm>
          <a:prstGeom prst="roundRect">
            <a:avLst>
              <a:gd name="adj" fmla="val 1524"/>
            </a:avLst>
          </a:prstGeom>
          <a:solidFill>
            <a:srgbClr val="FCFDFE"/>
          </a:solidFill>
          <a:ln w="12700">
            <a:solidFill>
              <a:srgbClr val="D7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9" name="Image 0" descr="/mnt/data/ppt_assets/activity_shar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48840"/>
            <a:ext cx="5120640" cy="2391278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6309360" y="53766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dirty="0">
                <a:solidFill>
                  <a:srgbClr val="526070"/>
                </a:solidFill>
              </a:rPr>
              <a:t>Activity share changes exist, but they are much less dramatic than the subject imbalance in the first-500 subset.</a:t>
            </a:r>
            <a:endParaRPr lang="en-US" sz="1420" dirty="0"/>
          </a:p>
        </p:txBody>
      </p:sp>
      <p:sp>
        <p:nvSpPr>
          <p:cNvPr id="62" name="Text 58"/>
          <p:cNvSpPr/>
          <p:nvPr/>
        </p:nvSpPr>
        <p:spPr>
          <a:xfrm>
            <a:off x="114757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3291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Variance explained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6070"/>
                </a:solidFill>
              </a:rPr>
              <a:t>What fraction of the standardized feature-space variance is captured by the leading PCs?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978408"/>
            <a:ext cx="107899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325880"/>
            <a:ext cx="6903720" cy="4800600"/>
          </a:xfrm>
          <a:prstGeom prst="roundRect">
            <a:avLst>
              <a:gd name="adj" fmla="val 1524"/>
            </a:avLst>
          </a:prstGeom>
          <a:solidFill>
            <a:srgbClr val="FCFDFE"/>
          </a:solidFill>
          <a:ln w="12700">
            <a:solidFill>
              <a:srgbClr val="D7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/mnt/data/ppt_assets/variance_summary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93274"/>
            <a:ext cx="6583680" cy="22658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48551" y="1155943"/>
            <a:ext cx="3520440" cy="4970537"/>
          </a:xfrm>
          <a:prstGeom prst="roundRect">
            <a:avLst>
              <a:gd name="adj" fmla="val 2078"/>
            </a:avLst>
          </a:prstGeom>
          <a:solidFill>
            <a:srgbClr val="FBFCFE"/>
          </a:solidFill>
          <a:ln w="12700">
            <a:solidFill>
              <a:srgbClr val="D7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183880" y="1179578"/>
            <a:ext cx="2697480" cy="40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63"/>
                </a:solidFill>
              </a:rPr>
              <a:t>Exact values from the notebook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56448" y="1606925"/>
            <a:ext cx="2880360" cy="33308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PC1 explains 50.74% (full), 53.59% (first 500), and 50.94% (random 500).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PC1 + PC2 explain 56.98%, 61.41%, and 57.28%, respectively.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PCs needed for 95% variance: 104 (full), 74 (first 500), 84 (random 500).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first-500 slice compresses variance fastest, but the random 500-row sample stays much closer to the full dataset.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97682" y="4961394"/>
            <a:ext cx="2743200" cy="1059843"/>
          </a:xfrm>
          <a:prstGeom prst="roundRect">
            <a:avLst>
              <a:gd name="adj" fmla="val 8333"/>
            </a:avLst>
          </a:prstGeom>
          <a:solidFill>
            <a:srgbClr val="EAF2FB"/>
          </a:solidFill>
          <a:ln w="12700">
            <a:solidFill>
              <a:srgbClr val="173B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348472" y="5394960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b="1" dirty="0">
                <a:solidFill>
                  <a:srgbClr val="173B63"/>
                </a:solidFill>
              </a:rPr>
              <a:t>Interpretation: faster variance concentration in the first-500 slice is not just a p &gt; n effect; narrower coverage is part of the story.</a:t>
            </a:r>
            <a:endParaRPr lang="en-US" sz="1360" dirty="0"/>
          </a:p>
        </p:txBody>
      </p:sp>
      <p:sp>
        <p:nvSpPr>
          <p:cNvPr id="14" name="Text 10"/>
          <p:cNvSpPr/>
          <p:nvPr/>
        </p:nvSpPr>
        <p:spPr>
          <a:xfrm>
            <a:off x="114757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3291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2D PCA scatter plots: visual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6070"/>
                </a:solidFill>
              </a:rPr>
              <a:t>Same plotting pipeline, same activity color legend, three different scenario definitions.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978408"/>
            <a:ext cx="107899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" y="1261872"/>
            <a:ext cx="10698480" cy="5230368"/>
          </a:xfrm>
          <a:prstGeom prst="roundRect">
            <a:avLst>
              <a:gd name="adj" fmla="val 1399"/>
            </a:avLst>
          </a:prstGeom>
          <a:solidFill>
            <a:srgbClr val="FCFDFE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114757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BB593F-8ACC-E1C8-54F5-5AE5B1E32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88" y="1886453"/>
            <a:ext cx="10503063" cy="30850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3291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interpret the scatter plots responsibly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6070"/>
                </a:solidFill>
              </a:rPr>
              <a:t>The visual comparison is useful, but it has to be read carefully.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978408"/>
            <a:ext cx="107899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5257800" cy="4069080"/>
          </a:xfrm>
          <a:prstGeom prst="roundRect">
            <a:avLst>
              <a:gd name="adj" fmla="val 1798"/>
            </a:avLst>
          </a:prstGeom>
          <a:solidFill>
            <a:srgbClr val="E8F6F3"/>
          </a:solidFill>
          <a:ln w="12700">
            <a:solidFill>
              <a:srgbClr val="0F766E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257800" cy="4069080"/>
          </a:xfrm>
          <a:prstGeom prst="roundRect">
            <a:avLst>
              <a:gd name="adj" fmla="val 1798"/>
            </a:avLst>
          </a:prstGeom>
          <a:solidFill>
            <a:srgbClr val="FFF4E8"/>
          </a:solidFill>
          <a:ln w="12700">
            <a:solidFill>
              <a:srgbClr val="D97706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24128" y="1737360"/>
            <a:ext cx="26248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</a:rPr>
              <a:t>Reasonable conclusions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7552" y="2057400"/>
            <a:ext cx="4526280" cy="31357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03200" indent="-203200">
              <a:buSzPct val="100000"/>
              <a:buChar char="•"/>
            </a:pPr>
            <a:r>
              <a:rPr lang="en-GB" sz="1720" dirty="0">
                <a:solidFill>
                  <a:srgbClr val="1F2937"/>
                </a:solidFill>
              </a:rPr>
              <a:t>In all three scenarios, PC1 broadly separates dynamic activities from postural ones.</a:t>
            </a:r>
          </a:p>
          <a:p>
            <a:pPr marL="203200" indent="-203200">
              <a:buSzPct val="100000"/>
              <a:buChar char="•"/>
            </a:pPr>
            <a:r>
              <a:rPr lang="en-GB" sz="1720" dirty="0">
                <a:solidFill>
                  <a:srgbClr val="1F2937"/>
                </a:solidFill>
              </a:rPr>
              <a:t>The three walking classes show partial separation along PC2, but they still overlap.</a:t>
            </a:r>
          </a:p>
          <a:p>
            <a:pPr marL="203200" indent="-203200">
              <a:buSzPct val="100000"/>
              <a:buChar char="•"/>
            </a:pPr>
            <a:r>
              <a:rPr lang="en-GB" sz="1720" dirty="0">
                <a:solidFill>
                  <a:srgbClr val="1F2937"/>
                </a:solidFill>
              </a:rPr>
              <a:t>The random 500-row sample preserves the overall full-dataset geometry reasonably well.</a:t>
            </a:r>
          </a:p>
          <a:p>
            <a:pPr marL="203200" indent="-203200">
              <a:buSzPct val="100000"/>
              <a:buChar char="•"/>
            </a:pPr>
            <a:r>
              <a:rPr lang="en-US" sz="1720" dirty="0">
                <a:solidFill>
                  <a:srgbClr val="1F2937"/>
                </a:solidFill>
              </a:rPr>
              <a:t>WALKING_UPSTAIRS remains somewhat distinct along PC2 relative to the other walking classes.</a:t>
            </a:r>
            <a:endParaRPr lang="en-US" sz="1720" dirty="0"/>
          </a:p>
          <a:p>
            <a:pPr marL="203200" indent="-203200">
              <a:buSzPct val="100000"/>
              <a:buChar char="•"/>
            </a:pPr>
            <a:r>
              <a:rPr lang="en-GB" sz="1720" dirty="0">
                <a:solidFill>
                  <a:srgbClr val="1F2937"/>
                </a:solidFill>
              </a:rPr>
              <a:t>The full dataset shows more spread and overlap, which is a more realistic summary of the data.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6446519" y="1737360"/>
            <a:ext cx="23955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7706"/>
                </a:solidFill>
              </a:rPr>
              <a:t>What not to conclude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19088" y="2057400"/>
            <a:ext cx="452628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03200" indent="-203200">
              <a:buSzPct val="100000"/>
              <a:buChar char="•"/>
            </a:pPr>
            <a:r>
              <a:rPr lang="en-US" sz="1720" dirty="0">
                <a:solidFill>
                  <a:srgbClr val="1F2937"/>
                </a:solidFill>
              </a:rPr>
              <a:t>A cleaner-looking first-500 plot does not mean it is the best PCA result.</a:t>
            </a:r>
            <a:endParaRPr lang="en-US" sz="1720" dirty="0"/>
          </a:p>
          <a:p>
            <a:pPr marL="203200" indent="-203200">
              <a:buSzPct val="100000"/>
              <a:buChar char="•"/>
            </a:pPr>
            <a:r>
              <a:rPr lang="en-US" sz="1720" dirty="0">
                <a:solidFill>
                  <a:srgbClr val="1F2937"/>
                </a:solidFill>
              </a:rPr>
              <a:t>Better visual separation does not automatically imply better generalizability.</a:t>
            </a:r>
            <a:endParaRPr lang="en-US" sz="1720" dirty="0"/>
          </a:p>
          <a:p>
            <a:pPr marL="203200" indent="-203200">
              <a:buSzPct val="100000"/>
              <a:buChar char="•"/>
            </a:pPr>
            <a:r>
              <a:rPr lang="en-US" sz="1720" dirty="0">
                <a:solidFill>
                  <a:srgbClr val="1F2937"/>
                </a:solidFill>
              </a:rPr>
              <a:t>Because the first-500 subset is biased, its neatness can be a sample-selection artifact.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941832" y="5596128"/>
            <a:ext cx="9966960" cy="475488"/>
          </a:xfrm>
          <a:prstGeom prst="roundRect">
            <a:avLst>
              <a:gd name="adj" fmla="val 11538"/>
            </a:avLst>
          </a:prstGeom>
          <a:solidFill>
            <a:srgbClr val="F8FAFD"/>
          </a:solidFill>
          <a:ln w="12700">
            <a:solidFill>
              <a:srgbClr val="C9D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234440" y="5742432"/>
            <a:ext cx="9372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520" b="1" dirty="0">
                <a:solidFill>
                  <a:srgbClr val="173B63"/>
                </a:solidFill>
              </a:rPr>
              <a:t>Representativeness matters more than visual neatness.</a:t>
            </a:r>
            <a:endParaRPr lang="en-US" sz="1520" dirty="0"/>
          </a:p>
        </p:txBody>
      </p:sp>
      <p:sp>
        <p:nvSpPr>
          <p:cNvPr id="15" name="Text 12"/>
          <p:cNvSpPr/>
          <p:nvPr/>
        </p:nvSpPr>
        <p:spPr>
          <a:xfrm>
            <a:off x="114757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3291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Additional quantitative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6070"/>
                </a:solidFill>
              </a:rPr>
              <a:t>These metrics help support the visual story, but they should still be interpreted carefully.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978408"/>
            <a:ext cx="107899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444752"/>
            <a:ext cx="3063240" cy="3840480"/>
          </a:xfrm>
          <a:prstGeom prst="roundRect">
            <a:avLst>
              <a:gd name="adj" fmla="val 2388"/>
            </a:avLst>
          </a:prstGeom>
          <a:solidFill>
            <a:srgbClr val="FCFDFE"/>
          </a:solidFill>
          <a:ln w="12700">
            <a:solidFill>
              <a:srgbClr val="D7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78224" y="1444752"/>
            <a:ext cx="3063240" cy="3840480"/>
          </a:xfrm>
          <a:prstGeom prst="roundRect">
            <a:avLst>
              <a:gd name="adj" fmla="val 2388"/>
            </a:avLst>
          </a:prstGeom>
          <a:solidFill>
            <a:srgbClr val="FCFDFE"/>
          </a:solidFill>
          <a:ln w="12700">
            <a:solidFill>
              <a:srgbClr val="D7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406640" y="1444752"/>
            <a:ext cx="3063240" cy="3840480"/>
          </a:xfrm>
          <a:prstGeom prst="roundRect">
            <a:avLst>
              <a:gd name="adj" fmla="val 2388"/>
            </a:avLst>
          </a:prstGeom>
          <a:solidFill>
            <a:srgbClr val="FCFDFE"/>
          </a:solidFill>
          <a:ln w="12700">
            <a:solidFill>
              <a:srgbClr val="D7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/mnt/data/ppt_assets/silhouette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251577"/>
            <a:ext cx="2788920" cy="1806205"/>
          </a:xfrm>
          <a:prstGeom prst="rect">
            <a:avLst/>
          </a:prstGeom>
        </p:spPr>
      </p:pic>
      <p:pic>
        <p:nvPicPr>
          <p:cNvPr id="10" name="Image 1" descr="/mnt/data/ppt_assets/spread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2251577"/>
            <a:ext cx="2788920" cy="1806205"/>
          </a:xfrm>
          <a:prstGeom prst="rect">
            <a:avLst/>
          </a:prstGeom>
        </p:spPr>
      </p:pic>
      <p:pic>
        <p:nvPicPr>
          <p:cNvPr id="11" name="Image 2" descr="/mnt/data/ppt_assets/loading_similar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2292348"/>
            <a:ext cx="2788920" cy="17246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50976" y="4636008"/>
            <a:ext cx="2660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97706"/>
                </a:solidFill>
              </a:rPr>
              <a:t>First 500 looks cleanest in 2D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279392" y="4636008"/>
            <a:ext cx="2660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97706"/>
                </a:solidFill>
              </a:rPr>
              <a:t>First 500 is tightest in 2D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7607808" y="4636008"/>
            <a:ext cx="2660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766E"/>
                </a:solidFill>
              </a:rPr>
              <a:t>Random 500 matches full loadings better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932688" y="5623560"/>
            <a:ext cx="10241280" cy="566928"/>
          </a:xfrm>
          <a:prstGeom prst="roundRect">
            <a:avLst>
              <a:gd name="adj" fmla="val 9677"/>
            </a:avLst>
          </a:prstGeom>
          <a:solidFill>
            <a:srgbClr val="EAF2FB"/>
          </a:solidFill>
          <a:ln w="12700">
            <a:solidFill>
              <a:srgbClr val="173B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1170432" y="5815584"/>
            <a:ext cx="9738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73B63"/>
                </a:solidFill>
              </a:rPr>
              <a:t>Together, these metrics support the notebook’s main caution: the first-500 subset looks cleaner, but the random 500-row sample is the more defensible p &gt; n comparison because it preserves the broader PCA interpretation better.</a:t>
            </a:r>
            <a:endParaRPr lang="en-US" sz="1420" dirty="0"/>
          </a:p>
        </p:txBody>
      </p:sp>
      <p:sp>
        <p:nvSpPr>
          <p:cNvPr id="18" name="Text 12"/>
          <p:cNvSpPr/>
          <p:nvPr/>
        </p:nvSpPr>
        <p:spPr>
          <a:xfrm>
            <a:off x="114757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3291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6070"/>
                </a:solidFill>
              </a:rPr>
              <a:t>This is the main message of the comparison.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978408"/>
            <a:ext cx="107899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EAF2FB"/>
          </a:solidFill>
          <a:ln w="12700">
            <a:solidFill>
              <a:srgbClr val="1F4E79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42416" y="1719072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42416" y="182880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9344" y="165506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4E79"/>
                </a:solidFill>
              </a:rPr>
              <a:t>Dimensionality matters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09344" y="198424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Moving from n &gt; p to p &gt; n changes the rank structure of PCA. Both 500-row subsets are capped at 499 non-zero PCs and force 62 directions to zero.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FF4E8"/>
          </a:solidFill>
          <a:ln w="12700">
            <a:solidFill>
              <a:srgbClr val="D97706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83096" y="1719072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83096" y="182880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50024" y="165506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97706"/>
                </a:solidFill>
              </a:rPr>
              <a:t>Sampling matters just as much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050024" y="198424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The first 500 rows and random 500 rows have the same 500 × 561 shape, but very different subject coverage and representativeness.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370332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E8F6F3"/>
          </a:solidFill>
          <a:ln w="12700">
            <a:solidFill>
              <a:srgbClr val="0F766E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42416" y="4005072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42416" y="411480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9344" y="394106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766E"/>
                </a:solidFill>
              </a:rPr>
              <a:t>Naive top-slice subsets can mislead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609344" y="427024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The first-500 subset is dominated by only 2 subjects, so its cleaner PCA picture is not a safe basis for general conclusions.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263640" y="370332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7FAFD"/>
          </a:solidFill>
          <a:ln w="12700">
            <a:solidFill>
              <a:srgbClr val="173B63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83096" y="4005072"/>
            <a:ext cx="420624" cy="420624"/>
          </a:xfrm>
          <a:prstGeom prst="ellipse">
            <a:avLst/>
          </a:prstGeom>
          <a:solidFill>
            <a:srgbClr val="173B63"/>
          </a:solidFill>
          <a:ln w="12700">
            <a:solidFill>
              <a:srgbClr val="173B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83096" y="411480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50024" y="394106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3B63"/>
                </a:solidFill>
              </a:rPr>
              <a:t>Random sampling is the fairer teaching example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050024" y="427024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The random 500-row sample is still p &gt; n, but it covers 30 subjects and stays closer to the full dataset on variance structure and loading interpretation.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114757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3291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and fair interpretation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6070"/>
                </a:solidFill>
              </a:rPr>
              <a:t>The notebook makes a strong teaching point, but it is still an exploratory comparison.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978408"/>
            <a:ext cx="107899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FCFDFE"/>
          </a:solidFill>
          <a:ln w="12700">
            <a:solidFill>
              <a:srgbClr val="D7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FCFDFE"/>
          </a:solidFill>
          <a:ln w="12700">
            <a:solidFill>
              <a:srgbClr val="D7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78992" y="17373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</a:rPr>
              <a:t>What this comparison does show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057400"/>
            <a:ext cx="429768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A p &gt; n setting changes the PCA geometry and variance profile.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A biased subset can look cleaner than a broader subset.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Representativeness strongly affects how convincing a PCA summary looks.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10528" y="1737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7706"/>
                </a:solidFill>
              </a:rPr>
              <a:t>What it does not prove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73952" y="2057400"/>
            <a:ext cx="429768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One random 500-row sample is informative, but it is not the only possible random sample.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A 2D PCA plot does not capture all 561-feature structure.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This is exploratory evidence, not a claim that PCA perfectly separates HAR activities.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87552" y="5559552"/>
            <a:ext cx="9921240" cy="493776"/>
          </a:xfrm>
          <a:prstGeom prst="roundRect">
            <a:avLst>
              <a:gd name="adj" fmla="val 11111"/>
            </a:avLst>
          </a:prstGeom>
          <a:solidFill>
            <a:srgbClr val="F8FAFD"/>
          </a:solidFill>
          <a:ln w="12700">
            <a:solidFill>
              <a:srgbClr val="C9D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261872" y="5715000"/>
            <a:ext cx="9372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173B63"/>
                </a:solidFill>
              </a:rPr>
              <a:t>Honest conclusion: the notebook supports a careful methodological lesson, not an overconfident claim.</a:t>
            </a:r>
            <a:endParaRPr lang="en-US" sz="1480" dirty="0"/>
          </a:p>
        </p:txBody>
      </p:sp>
      <p:sp>
        <p:nvSpPr>
          <p:cNvPr id="15" name="Text 12"/>
          <p:cNvSpPr/>
          <p:nvPr/>
        </p:nvSpPr>
        <p:spPr>
          <a:xfrm>
            <a:off x="114757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63"/>
                </a:solidFill>
              </a:rPr>
              <a:t>Final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" y="15087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</a:rPr>
              <a:t>For this HAR example, the best teaching lesson is not “PCA works better on small subsets.”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</a:rPr>
              <a:t>It is “PCA results depend on both dimensionality and representativeness.”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1234440"/>
            <a:ext cx="2971800" cy="379476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577072" y="15361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B63"/>
                </a:solidFill>
              </a:rPr>
              <a:t>Remember these three points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86216" y="2011680"/>
            <a:ext cx="237744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</a:rPr>
              <a:t>Both 500-row cases are p &gt; n.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</a:rPr>
              <a:t>Only the first 500 rows are severely biased.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</a:rPr>
              <a:t>Random 500 is the fairer comparison to the full dataset.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868680" y="306324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FFF4E8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43000" y="3364992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B45309"/>
                </a:solidFill>
              </a:rPr>
              <a:t>So if a classmate asks which p &gt; n example is more trustworthy, the answer is not the one that looks neatest — it is the one that samples the dataset more fairly.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68680" y="5715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B63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195560" y="58064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6B7280"/>
                </a:solidFill>
              </a:rPr>
              <a:t>Thank you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4757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2569</Words>
  <Application>Microsoft Office PowerPoint</Application>
  <PresentationFormat>Widescreen</PresentationFormat>
  <Paragraphs>267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PCA Across Sampling Regimes on the UCI HAR Dataset</dc:title>
  <dc:subject>PCA comparison on UCI HAR dataset</dc:subject>
  <dc:creator>OpenAI</dc:creator>
  <cp:lastModifiedBy>Nimish Sood</cp:lastModifiedBy>
  <cp:revision>3</cp:revision>
  <dcterms:created xsi:type="dcterms:W3CDTF">2026-04-10T03:21:20Z</dcterms:created>
  <dcterms:modified xsi:type="dcterms:W3CDTF">2026-04-10T04:37:51Z</dcterms:modified>
</cp:coreProperties>
</file>